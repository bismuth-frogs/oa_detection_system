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</p:sldIdLst>
  <p:sldSz cx="12192000" cy="6858000"/>
  <p:notesSz cx="6858000" cy="9144000"/>
  <p:embeddedFontLst>
    <p:embeddedFont>
      <p:font typeface="Playfair Display" panose="00000500000000000000" pitchFamily="2" charset="0"/>
      <p:regular r:id="rId10"/>
      <p:bold r:id="rId11"/>
      <p:italic r:id="rId12"/>
      <p:boldItalic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Light" panose="000004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7"/>
  </p:normalViewPr>
  <p:slideViewPr>
    <p:cSldViewPr snapToGrid="0">
      <p:cViewPr varScale="1">
        <p:scale>
          <a:sx n="59" d="100"/>
          <a:sy n="59" d="100"/>
        </p:scale>
        <p:origin x="88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EAE0B444-DE4F-3984-9722-E353CE64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5329E444-2199-AEA4-F02B-A03D443B45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148C7554-E0E9-EFE8-ED25-667E8322E8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1615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n.cdc.gov/nchs/nhanes/search/DataPage.aspx?Cycle=2017-2018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414337"/>
            <a:ext cx="9391650" cy="6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85511" y="1533525"/>
            <a:ext cx="782097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INTERNATIONAL INNOVATION </a:t>
            </a:r>
            <a:r>
              <a:rPr lang="en-US" sz="4800" b="1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 </a:t>
            </a:r>
            <a:r>
              <a:rPr lang="en-US" sz="4800" b="1" dirty="0">
                <a:solidFill>
                  <a:srgbClr val="F2EEFA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3.0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71987" y="4005262"/>
            <a:ext cx="367665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Theme- Health Tech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71987" y="4557712"/>
            <a:ext cx="367665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Idea Title- Joint Mitra AI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471987" y="5110162"/>
            <a:ext cx="367665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 Name Mission Possible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3362" y="4033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43362" y="45862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3362" y="5138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E7922C-D65A-4A22-8F20-6A8FB0158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323" y="588918"/>
            <a:ext cx="2844187" cy="873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A44B1-CD48-B725-0E2D-7F4DFB455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1713" y="588918"/>
            <a:ext cx="1877963" cy="972367"/>
          </a:xfrm>
          <a:prstGeom prst="rect">
            <a:avLst/>
          </a:prstGeom>
        </p:spPr>
      </p:pic>
      <p:sp>
        <p:nvSpPr>
          <p:cNvPr id="7" name="Google Shape;111;p14">
            <a:extLst>
              <a:ext uri="{FF2B5EF4-FFF2-40B4-BE49-F238E27FC236}">
                <a16:creationId xmlns:a16="http://schemas.microsoft.com/office/drawing/2014/main" id="{B0B7FDCA-5857-D492-02A9-B3CA0036752A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-24581" y="-8848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2EEFA"/>
                </a:solidFill>
                <a:latin typeface="Playfair Display"/>
                <a:sym typeface="Playfair Display"/>
              </a:rPr>
              <a:t>JOINT MITRA AI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42212D-D501-5D91-457D-B2185DEEB5C6}"/>
              </a:ext>
            </a:extLst>
          </p:cNvPr>
          <p:cNvSpPr txBox="1"/>
          <p:nvPr/>
        </p:nvSpPr>
        <p:spPr>
          <a:xfrm>
            <a:off x="286762" y="1427106"/>
            <a:ext cx="1194979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solidFill>
                  <a:schemeClr val="bg1"/>
                </a:solidFill>
              </a:rPr>
              <a:t>The Problem</a:t>
            </a:r>
          </a:p>
          <a:p>
            <a:pPr algn="just"/>
            <a:r>
              <a:rPr lang="en-IN" sz="1600" b="1" dirty="0">
                <a:solidFill>
                  <a:schemeClr val="bg1"/>
                </a:solidFill>
              </a:rPr>
              <a:t>Diagnostic Delay in Osteoarthritis</a:t>
            </a:r>
          </a:p>
          <a:p>
            <a:pPr algn="just"/>
            <a:endParaRPr lang="en-IN" b="1" dirty="0">
              <a:solidFill>
                <a:schemeClr val="bg1"/>
              </a:solidFill>
            </a:endParaRPr>
          </a:p>
          <a:p>
            <a:pPr algn="just"/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</p:txBody>
      </p:sp>
      <p:grpSp>
        <p:nvGrpSpPr>
          <p:cNvPr id="16" name="object 2">
            <a:extLst>
              <a:ext uri="{FF2B5EF4-FFF2-40B4-BE49-F238E27FC236}">
                <a16:creationId xmlns:a16="http://schemas.microsoft.com/office/drawing/2014/main" id="{F8974AD2-9408-B269-C9B4-D1A20F261298}"/>
              </a:ext>
            </a:extLst>
          </p:cNvPr>
          <p:cNvGrpSpPr/>
          <p:nvPr/>
        </p:nvGrpSpPr>
        <p:grpSpPr>
          <a:xfrm>
            <a:off x="85991" y="2023921"/>
            <a:ext cx="3718743" cy="2181860"/>
            <a:chOff x="792000" y="1910460"/>
            <a:chExt cx="2856230" cy="2181860"/>
          </a:xfrm>
        </p:grpSpPr>
        <p:sp>
          <p:nvSpPr>
            <p:cNvPr id="17" name="object 3">
              <a:extLst>
                <a:ext uri="{FF2B5EF4-FFF2-40B4-BE49-F238E27FC236}">
                  <a16:creationId xmlns:a16="http://schemas.microsoft.com/office/drawing/2014/main" id="{906D72FE-1637-9B5F-0C37-D909368A8559}"/>
                </a:ext>
              </a:extLst>
            </p:cNvPr>
            <p:cNvSpPr/>
            <p:nvPr/>
          </p:nvSpPr>
          <p:spPr>
            <a:xfrm>
              <a:off x="792000" y="1910460"/>
              <a:ext cx="2856230" cy="2181860"/>
            </a:xfrm>
            <a:custGeom>
              <a:avLst/>
              <a:gdLst/>
              <a:ahLst/>
              <a:cxnLst/>
              <a:rect l="l" t="t" r="r" b="b"/>
              <a:pathLst>
                <a:path w="2856229" h="2181860">
                  <a:moveTo>
                    <a:pt x="2779800" y="2181816"/>
                  </a:moveTo>
                  <a:lnTo>
                    <a:pt x="76200" y="2181816"/>
                  </a:lnTo>
                  <a:lnTo>
                    <a:pt x="46612" y="2175804"/>
                  </a:lnTo>
                  <a:lnTo>
                    <a:pt x="22383" y="2159433"/>
                  </a:lnTo>
                  <a:lnTo>
                    <a:pt x="6012" y="2135203"/>
                  </a:lnTo>
                  <a:lnTo>
                    <a:pt x="0" y="2105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779800" y="0"/>
                  </a:lnTo>
                  <a:lnTo>
                    <a:pt x="2809387" y="6012"/>
                  </a:lnTo>
                  <a:lnTo>
                    <a:pt x="2833616" y="22383"/>
                  </a:lnTo>
                  <a:lnTo>
                    <a:pt x="2849987" y="46612"/>
                  </a:lnTo>
                  <a:lnTo>
                    <a:pt x="2856000" y="76200"/>
                  </a:lnTo>
                  <a:lnTo>
                    <a:pt x="2856000" y="2105616"/>
                  </a:lnTo>
                  <a:lnTo>
                    <a:pt x="2849987" y="2135203"/>
                  </a:lnTo>
                  <a:lnTo>
                    <a:pt x="2833616" y="2159433"/>
                  </a:lnTo>
                  <a:lnTo>
                    <a:pt x="2809387" y="2175804"/>
                  </a:lnTo>
                  <a:lnTo>
                    <a:pt x="2779800" y="2181816"/>
                  </a:lnTo>
                  <a:close/>
                </a:path>
              </a:pathLst>
            </a:custGeom>
            <a:solidFill>
              <a:srgbClr val="1D0F2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4">
              <a:extLst>
                <a:ext uri="{FF2B5EF4-FFF2-40B4-BE49-F238E27FC236}">
                  <a16:creationId xmlns:a16="http://schemas.microsoft.com/office/drawing/2014/main" id="{4EAA9021-3D40-7020-0C6F-374ADC5A465F}"/>
                </a:ext>
              </a:extLst>
            </p:cNvPr>
            <p:cNvSpPr/>
            <p:nvPr/>
          </p:nvSpPr>
          <p:spPr>
            <a:xfrm>
              <a:off x="792000" y="1910461"/>
              <a:ext cx="2856230" cy="2181860"/>
            </a:xfrm>
            <a:custGeom>
              <a:avLst/>
              <a:gdLst/>
              <a:ahLst/>
              <a:cxnLst/>
              <a:rect l="l" t="t" r="r" b="b"/>
              <a:pathLst>
                <a:path w="2856229" h="2181860">
                  <a:moveTo>
                    <a:pt x="2779800" y="2181816"/>
                  </a:moveTo>
                  <a:lnTo>
                    <a:pt x="76200" y="2181816"/>
                  </a:lnTo>
                  <a:lnTo>
                    <a:pt x="46612" y="2175804"/>
                  </a:lnTo>
                  <a:lnTo>
                    <a:pt x="22383" y="2159433"/>
                  </a:lnTo>
                  <a:lnTo>
                    <a:pt x="6012" y="2135203"/>
                  </a:lnTo>
                  <a:lnTo>
                    <a:pt x="0" y="2105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779800" y="0"/>
                  </a:lnTo>
                  <a:lnTo>
                    <a:pt x="2809387" y="6012"/>
                  </a:lnTo>
                  <a:lnTo>
                    <a:pt x="2814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105616"/>
                  </a:lnTo>
                  <a:lnTo>
                    <a:pt x="14786" y="2131505"/>
                  </a:lnTo>
                  <a:lnTo>
                    <a:pt x="29110" y="2152706"/>
                  </a:lnTo>
                  <a:lnTo>
                    <a:pt x="50311" y="2167030"/>
                  </a:lnTo>
                  <a:lnTo>
                    <a:pt x="76200" y="2172291"/>
                  </a:lnTo>
                  <a:lnTo>
                    <a:pt x="2814585" y="2172291"/>
                  </a:lnTo>
                  <a:lnTo>
                    <a:pt x="2809387" y="2175804"/>
                  </a:lnTo>
                  <a:lnTo>
                    <a:pt x="2779800" y="2181816"/>
                  </a:lnTo>
                  <a:close/>
                </a:path>
                <a:path w="2856229" h="2181860">
                  <a:moveTo>
                    <a:pt x="2814585" y="2172291"/>
                  </a:moveTo>
                  <a:lnTo>
                    <a:pt x="2779800" y="2172291"/>
                  </a:lnTo>
                  <a:lnTo>
                    <a:pt x="2805688" y="2167030"/>
                  </a:lnTo>
                  <a:lnTo>
                    <a:pt x="2826889" y="2152706"/>
                  </a:lnTo>
                  <a:lnTo>
                    <a:pt x="2841214" y="2131505"/>
                  </a:lnTo>
                  <a:lnTo>
                    <a:pt x="2846475" y="2105616"/>
                  </a:lnTo>
                  <a:lnTo>
                    <a:pt x="2846475" y="76200"/>
                  </a:lnTo>
                  <a:lnTo>
                    <a:pt x="2841214" y="50311"/>
                  </a:lnTo>
                  <a:lnTo>
                    <a:pt x="2826889" y="29110"/>
                  </a:lnTo>
                  <a:lnTo>
                    <a:pt x="2805688" y="14786"/>
                  </a:lnTo>
                  <a:lnTo>
                    <a:pt x="2779800" y="9525"/>
                  </a:lnTo>
                  <a:lnTo>
                    <a:pt x="2814585" y="9525"/>
                  </a:lnTo>
                  <a:lnTo>
                    <a:pt x="2833616" y="22383"/>
                  </a:lnTo>
                  <a:lnTo>
                    <a:pt x="2849987" y="46612"/>
                  </a:lnTo>
                  <a:lnTo>
                    <a:pt x="2856000" y="76200"/>
                  </a:lnTo>
                  <a:lnTo>
                    <a:pt x="2856000" y="2105616"/>
                  </a:lnTo>
                  <a:lnTo>
                    <a:pt x="2849987" y="2135203"/>
                  </a:lnTo>
                  <a:lnTo>
                    <a:pt x="2833616" y="2159433"/>
                  </a:lnTo>
                  <a:lnTo>
                    <a:pt x="2814585" y="2172291"/>
                  </a:lnTo>
                  <a:close/>
                </a:path>
              </a:pathLst>
            </a:custGeom>
            <a:solidFill>
              <a:srgbClr val="D4AF3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5">
              <a:extLst>
                <a:ext uri="{FF2B5EF4-FFF2-40B4-BE49-F238E27FC236}">
                  <a16:creationId xmlns:a16="http://schemas.microsoft.com/office/drawing/2014/main" id="{4F0EA3D6-8A4E-6353-2DF9-59F8CF2E8A63}"/>
                </a:ext>
              </a:extLst>
            </p:cNvPr>
            <p:cNvSpPr/>
            <p:nvPr/>
          </p:nvSpPr>
          <p:spPr>
            <a:xfrm>
              <a:off x="1053525" y="2373082"/>
              <a:ext cx="2332990" cy="9525"/>
            </a:xfrm>
            <a:custGeom>
              <a:avLst/>
              <a:gdLst/>
              <a:ahLst/>
              <a:cxnLst/>
              <a:rect l="l" t="t" r="r" b="b"/>
              <a:pathLst>
                <a:path w="2332990" h="9525">
                  <a:moveTo>
                    <a:pt x="23329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332950" y="0"/>
                  </a:lnTo>
                  <a:lnTo>
                    <a:pt x="2332950" y="9525"/>
                  </a:lnTo>
                  <a:close/>
                </a:path>
              </a:pathLst>
            </a:custGeom>
            <a:solidFill>
              <a:srgbClr val="D4AF3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2DE31636-D8C7-3D26-C65E-E6E718D258A2}"/>
              </a:ext>
            </a:extLst>
          </p:cNvPr>
          <p:cNvSpPr txBox="1"/>
          <p:nvPr/>
        </p:nvSpPr>
        <p:spPr>
          <a:xfrm>
            <a:off x="784129" y="2083834"/>
            <a:ext cx="156174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Late</a:t>
            </a:r>
            <a:r>
              <a:rPr sz="1300" b="1" spc="-4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D600"/>
                </a:solidFill>
                <a:latin typeface="Arial"/>
                <a:cs typeface="Arial"/>
              </a:rPr>
              <a:t>Diagnosis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21" name="object 24">
            <a:extLst>
              <a:ext uri="{FF2B5EF4-FFF2-40B4-BE49-F238E27FC236}">
                <a16:creationId xmlns:a16="http://schemas.microsoft.com/office/drawing/2014/main" id="{5934161B-41F9-7D89-F5EC-96248A03FB40}"/>
              </a:ext>
            </a:extLst>
          </p:cNvPr>
          <p:cNvSpPr txBox="1"/>
          <p:nvPr/>
        </p:nvSpPr>
        <p:spPr>
          <a:xfrm>
            <a:off x="719699" y="2443729"/>
            <a:ext cx="2451328" cy="581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 algn="just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Asymptomatic</a:t>
            </a:r>
            <a:r>
              <a:rPr sz="10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Progression: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Patients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remain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unaware</a:t>
            </a:r>
            <a:r>
              <a:rPr sz="1050" spc="-1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until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severe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cartilage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loss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occurs.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22" name="object 25">
            <a:extLst>
              <a:ext uri="{FF2B5EF4-FFF2-40B4-BE49-F238E27FC236}">
                <a16:creationId xmlns:a16="http://schemas.microsoft.com/office/drawing/2014/main" id="{4BB7BB36-4163-A1E9-D223-F6588BE9E0E4}"/>
              </a:ext>
            </a:extLst>
          </p:cNvPr>
          <p:cNvSpPr txBox="1"/>
          <p:nvPr/>
        </p:nvSpPr>
        <p:spPr>
          <a:xfrm>
            <a:off x="653542" y="3131801"/>
            <a:ext cx="2817581" cy="385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Irreversible</a:t>
            </a:r>
            <a:r>
              <a:rPr sz="10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Loss:</a:t>
            </a:r>
            <a:r>
              <a:rPr sz="10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Interventions</a:t>
            </a:r>
            <a:r>
              <a:rPr sz="1050" spc="-4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at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stage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3/4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yield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lower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long-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term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efficacy.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28" name="object 6">
            <a:extLst>
              <a:ext uri="{FF2B5EF4-FFF2-40B4-BE49-F238E27FC236}">
                <a16:creationId xmlns:a16="http://schemas.microsoft.com/office/drawing/2014/main" id="{359B7E6C-65D2-A995-7420-D09A0600BAEA}"/>
              </a:ext>
            </a:extLst>
          </p:cNvPr>
          <p:cNvGrpSpPr/>
          <p:nvPr/>
        </p:nvGrpSpPr>
        <p:grpSpPr>
          <a:xfrm>
            <a:off x="3991948" y="1996800"/>
            <a:ext cx="3811982" cy="2236099"/>
            <a:chOff x="3828000" y="1910460"/>
            <a:chExt cx="2856230" cy="2181860"/>
          </a:xfrm>
        </p:grpSpPr>
        <p:sp>
          <p:nvSpPr>
            <p:cNvPr id="29" name="object 7">
              <a:extLst>
                <a:ext uri="{FF2B5EF4-FFF2-40B4-BE49-F238E27FC236}">
                  <a16:creationId xmlns:a16="http://schemas.microsoft.com/office/drawing/2014/main" id="{7CA288A1-D8B9-3671-AAE9-7CDE408F7EA8}"/>
                </a:ext>
              </a:extLst>
            </p:cNvPr>
            <p:cNvSpPr/>
            <p:nvPr/>
          </p:nvSpPr>
          <p:spPr>
            <a:xfrm>
              <a:off x="3828000" y="1910460"/>
              <a:ext cx="2856230" cy="2181860"/>
            </a:xfrm>
            <a:custGeom>
              <a:avLst/>
              <a:gdLst/>
              <a:ahLst/>
              <a:cxnLst/>
              <a:rect l="l" t="t" r="r" b="b"/>
              <a:pathLst>
                <a:path w="2856229" h="2181860">
                  <a:moveTo>
                    <a:pt x="2779800" y="2181816"/>
                  </a:moveTo>
                  <a:lnTo>
                    <a:pt x="76200" y="2181816"/>
                  </a:lnTo>
                  <a:lnTo>
                    <a:pt x="46612" y="2175804"/>
                  </a:lnTo>
                  <a:lnTo>
                    <a:pt x="22383" y="2159433"/>
                  </a:lnTo>
                  <a:lnTo>
                    <a:pt x="6012" y="2135203"/>
                  </a:lnTo>
                  <a:lnTo>
                    <a:pt x="0" y="2105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779800" y="0"/>
                  </a:lnTo>
                  <a:lnTo>
                    <a:pt x="2809387" y="6012"/>
                  </a:lnTo>
                  <a:lnTo>
                    <a:pt x="2833616" y="22383"/>
                  </a:lnTo>
                  <a:lnTo>
                    <a:pt x="2849987" y="46612"/>
                  </a:lnTo>
                  <a:lnTo>
                    <a:pt x="2856000" y="76200"/>
                  </a:lnTo>
                  <a:lnTo>
                    <a:pt x="2856000" y="2105616"/>
                  </a:lnTo>
                  <a:lnTo>
                    <a:pt x="2849987" y="2135203"/>
                  </a:lnTo>
                  <a:lnTo>
                    <a:pt x="2833616" y="2159433"/>
                  </a:lnTo>
                  <a:lnTo>
                    <a:pt x="2809387" y="2175804"/>
                  </a:lnTo>
                  <a:lnTo>
                    <a:pt x="2779800" y="2181816"/>
                  </a:lnTo>
                  <a:close/>
                </a:path>
              </a:pathLst>
            </a:custGeom>
            <a:solidFill>
              <a:srgbClr val="1D0F2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8">
              <a:extLst>
                <a:ext uri="{FF2B5EF4-FFF2-40B4-BE49-F238E27FC236}">
                  <a16:creationId xmlns:a16="http://schemas.microsoft.com/office/drawing/2014/main" id="{8E1449B7-5865-657B-52B6-9D4AF3717128}"/>
                </a:ext>
              </a:extLst>
            </p:cNvPr>
            <p:cNvSpPr/>
            <p:nvPr/>
          </p:nvSpPr>
          <p:spPr>
            <a:xfrm>
              <a:off x="3828000" y="1910461"/>
              <a:ext cx="2856230" cy="2181860"/>
            </a:xfrm>
            <a:custGeom>
              <a:avLst/>
              <a:gdLst/>
              <a:ahLst/>
              <a:cxnLst/>
              <a:rect l="l" t="t" r="r" b="b"/>
              <a:pathLst>
                <a:path w="2856229" h="2181860">
                  <a:moveTo>
                    <a:pt x="2779800" y="2181816"/>
                  </a:moveTo>
                  <a:lnTo>
                    <a:pt x="76200" y="2181816"/>
                  </a:lnTo>
                  <a:lnTo>
                    <a:pt x="46612" y="2175804"/>
                  </a:lnTo>
                  <a:lnTo>
                    <a:pt x="22383" y="2159433"/>
                  </a:lnTo>
                  <a:lnTo>
                    <a:pt x="6012" y="2135203"/>
                  </a:lnTo>
                  <a:lnTo>
                    <a:pt x="0" y="2105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779800" y="0"/>
                  </a:lnTo>
                  <a:lnTo>
                    <a:pt x="2809387" y="6012"/>
                  </a:lnTo>
                  <a:lnTo>
                    <a:pt x="2814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105616"/>
                  </a:lnTo>
                  <a:lnTo>
                    <a:pt x="14786" y="2131505"/>
                  </a:lnTo>
                  <a:lnTo>
                    <a:pt x="29110" y="2152706"/>
                  </a:lnTo>
                  <a:lnTo>
                    <a:pt x="50311" y="2167030"/>
                  </a:lnTo>
                  <a:lnTo>
                    <a:pt x="76200" y="2172291"/>
                  </a:lnTo>
                  <a:lnTo>
                    <a:pt x="2814585" y="2172291"/>
                  </a:lnTo>
                  <a:lnTo>
                    <a:pt x="2809387" y="2175804"/>
                  </a:lnTo>
                  <a:lnTo>
                    <a:pt x="2779800" y="2181816"/>
                  </a:lnTo>
                  <a:close/>
                </a:path>
                <a:path w="2856229" h="2181860">
                  <a:moveTo>
                    <a:pt x="2814585" y="2172291"/>
                  </a:moveTo>
                  <a:lnTo>
                    <a:pt x="2779800" y="2172291"/>
                  </a:lnTo>
                  <a:lnTo>
                    <a:pt x="2805688" y="2167030"/>
                  </a:lnTo>
                  <a:lnTo>
                    <a:pt x="2826889" y="2152706"/>
                  </a:lnTo>
                  <a:lnTo>
                    <a:pt x="2841214" y="2131505"/>
                  </a:lnTo>
                  <a:lnTo>
                    <a:pt x="2846475" y="2105616"/>
                  </a:lnTo>
                  <a:lnTo>
                    <a:pt x="2846475" y="76200"/>
                  </a:lnTo>
                  <a:lnTo>
                    <a:pt x="2841214" y="50311"/>
                  </a:lnTo>
                  <a:lnTo>
                    <a:pt x="2826889" y="29110"/>
                  </a:lnTo>
                  <a:lnTo>
                    <a:pt x="2805688" y="14786"/>
                  </a:lnTo>
                  <a:lnTo>
                    <a:pt x="2779800" y="9525"/>
                  </a:lnTo>
                  <a:lnTo>
                    <a:pt x="2814585" y="9525"/>
                  </a:lnTo>
                  <a:lnTo>
                    <a:pt x="2833616" y="22383"/>
                  </a:lnTo>
                  <a:lnTo>
                    <a:pt x="2849987" y="46612"/>
                  </a:lnTo>
                  <a:lnTo>
                    <a:pt x="2856000" y="76200"/>
                  </a:lnTo>
                  <a:lnTo>
                    <a:pt x="2856000" y="2105616"/>
                  </a:lnTo>
                  <a:lnTo>
                    <a:pt x="2849987" y="2135203"/>
                  </a:lnTo>
                  <a:lnTo>
                    <a:pt x="2833616" y="2159433"/>
                  </a:lnTo>
                  <a:lnTo>
                    <a:pt x="2814585" y="2172291"/>
                  </a:lnTo>
                  <a:close/>
                </a:path>
              </a:pathLst>
            </a:custGeom>
            <a:solidFill>
              <a:srgbClr val="D4AF3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9">
              <a:extLst>
                <a:ext uri="{FF2B5EF4-FFF2-40B4-BE49-F238E27FC236}">
                  <a16:creationId xmlns:a16="http://schemas.microsoft.com/office/drawing/2014/main" id="{8C41190B-9434-DDCC-D6C4-A8A5BD6809BC}"/>
                </a:ext>
              </a:extLst>
            </p:cNvPr>
            <p:cNvSpPr/>
            <p:nvPr/>
          </p:nvSpPr>
          <p:spPr>
            <a:xfrm>
              <a:off x="4089525" y="2373082"/>
              <a:ext cx="2332990" cy="9525"/>
            </a:xfrm>
            <a:custGeom>
              <a:avLst/>
              <a:gdLst/>
              <a:ahLst/>
              <a:cxnLst/>
              <a:rect l="l" t="t" r="r" b="b"/>
              <a:pathLst>
                <a:path w="2332990" h="9525">
                  <a:moveTo>
                    <a:pt x="23329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332950" y="0"/>
                  </a:lnTo>
                  <a:lnTo>
                    <a:pt x="2332950" y="9525"/>
                  </a:lnTo>
                  <a:close/>
                </a:path>
              </a:pathLst>
            </a:custGeom>
            <a:solidFill>
              <a:srgbClr val="D4AF3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21">
            <a:extLst>
              <a:ext uri="{FF2B5EF4-FFF2-40B4-BE49-F238E27FC236}">
                <a16:creationId xmlns:a16="http://schemas.microsoft.com/office/drawing/2014/main" id="{6DB1FDAC-506B-F8BF-5392-0E15722B3921}"/>
              </a:ext>
            </a:extLst>
          </p:cNvPr>
          <p:cNvSpPr txBox="1"/>
          <p:nvPr/>
        </p:nvSpPr>
        <p:spPr>
          <a:xfrm>
            <a:off x="4246018" y="2066884"/>
            <a:ext cx="2128032" cy="218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Clinical</a:t>
            </a:r>
            <a:r>
              <a:rPr sz="1300" b="1" spc="-4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D600"/>
                </a:solidFill>
                <a:latin typeface="Arial"/>
                <a:cs typeface="Arial"/>
              </a:rPr>
              <a:t>Bottlenecks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3" name="object 26">
            <a:extLst>
              <a:ext uri="{FF2B5EF4-FFF2-40B4-BE49-F238E27FC236}">
                <a16:creationId xmlns:a16="http://schemas.microsoft.com/office/drawing/2014/main" id="{358D35E1-37BF-3657-1A5E-8697B76AEA3D}"/>
              </a:ext>
            </a:extLst>
          </p:cNvPr>
          <p:cNvSpPr txBox="1"/>
          <p:nvPr/>
        </p:nvSpPr>
        <p:spPr>
          <a:xfrm>
            <a:off x="4342274" y="2426779"/>
            <a:ext cx="2872122" cy="385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sz="10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Volume:</a:t>
            </a:r>
            <a:r>
              <a:rPr sz="10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Primary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clinics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face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extreme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backlogs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for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orthopedic consultations.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34" name="object 27">
            <a:extLst>
              <a:ext uri="{FF2B5EF4-FFF2-40B4-BE49-F238E27FC236}">
                <a16:creationId xmlns:a16="http://schemas.microsoft.com/office/drawing/2014/main" id="{88971F70-921C-ADEE-DD06-1F96424061EE}"/>
              </a:ext>
            </a:extLst>
          </p:cNvPr>
          <p:cNvSpPr txBox="1"/>
          <p:nvPr/>
        </p:nvSpPr>
        <p:spPr>
          <a:xfrm>
            <a:off x="4342273" y="3114851"/>
            <a:ext cx="2703473" cy="395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Resource</a:t>
            </a:r>
            <a:r>
              <a:rPr sz="10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Gaps:</a:t>
            </a:r>
            <a:r>
              <a:rPr sz="10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Specialist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availability</a:t>
            </a:r>
            <a:r>
              <a:rPr sz="1050" spc="-5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is</a:t>
            </a:r>
            <a:r>
              <a:rPr sz="1050" spc="-5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constrained</a:t>
            </a:r>
            <a:r>
              <a:rPr sz="1050" spc="-5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in</a:t>
            </a:r>
            <a:r>
              <a:rPr sz="1050" spc="-5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non-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urban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settings.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35" name="object 10">
            <a:extLst>
              <a:ext uri="{FF2B5EF4-FFF2-40B4-BE49-F238E27FC236}">
                <a16:creationId xmlns:a16="http://schemas.microsoft.com/office/drawing/2014/main" id="{D8477147-C696-7A5B-3F2B-C46218E0DE39}"/>
              </a:ext>
            </a:extLst>
          </p:cNvPr>
          <p:cNvGrpSpPr/>
          <p:nvPr/>
        </p:nvGrpSpPr>
        <p:grpSpPr>
          <a:xfrm>
            <a:off x="7936664" y="1996800"/>
            <a:ext cx="3757088" cy="2236099"/>
            <a:chOff x="6864000" y="1910460"/>
            <a:chExt cx="3036570" cy="1988820"/>
          </a:xfrm>
        </p:grpSpPr>
        <p:sp>
          <p:nvSpPr>
            <p:cNvPr id="36" name="object 11">
              <a:extLst>
                <a:ext uri="{FF2B5EF4-FFF2-40B4-BE49-F238E27FC236}">
                  <a16:creationId xmlns:a16="http://schemas.microsoft.com/office/drawing/2014/main" id="{6174D069-0B59-275D-A7A1-0ED440FE8E8B}"/>
                </a:ext>
              </a:extLst>
            </p:cNvPr>
            <p:cNvSpPr/>
            <p:nvPr/>
          </p:nvSpPr>
          <p:spPr>
            <a:xfrm>
              <a:off x="6864000" y="1910460"/>
              <a:ext cx="3036570" cy="1988820"/>
            </a:xfrm>
            <a:custGeom>
              <a:avLst/>
              <a:gdLst/>
              <a:ahLst/>
              <a:cxnLst/>
              <a:rect l="l" t="t" r="r" b="b"/>
              <a:pathLst>
                <a:path w="3036570" h="1988820">
                  <a:moveTo>
                    <a:pt x="2959800" y="1988459"/>
                  </a:moveTo>
                  <a:lnTo>
                    <a:pt x="76200" y="1988459"/>
                  </a:lnTo>
                  <a:lnTo>
                    <a:pt x="46612" y="1982446"/>
                  </a:lnTo>
                  <a:lnTo>
                    <a:pt x="22383" y="1966075"/>
                  </a:lnTo>
                  <a:lnTo>
                    <a:pt x="6012" y="1941846"/>
                  </a:lnTo>
                  <a:lnTo>
                    <a:pt x="0" y="1912259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9800" y="0"/>
                  </a:lnTo>
                  <a:lnTo>
                    <a:pt x="2989387" y="6012"/>
                  </a:lnTo>
                  <a:lnTo>
                    <a:pt x="3013616" y="22383"/>
                  </a:lnTo>
                  <a:lnTo>
                    <a:pt x="3029987" y="46612"/>
                  </a:lnTo>
                  <a:lnTo>
                    <a:pt x="3036000" y="76200"/>
                  </a:lnTo>
                  <a:lnTo>
                    <a:pt x="3036000" y="1912259"/>
                  </a:lnTo>
                  <a:lnTo>
                    <a:pt x="3029987" y="1941846"/>
                  </a:lnTo>
                  <a:lnTo>
                    <a:pt x="3013616" y="1966075"/>
                  </a:lnTo>
                  <a:lnTo>
                    <a:pt x="2989387" y="1982446"/>
                  </a:lnTo>
                  <a:lnTo>
                    <a:pt x="2959800" y="1988459"/>
                  </a:lnTo>
                  <a:close/>
                </a:path>
              </a:pathLst>
            </a:custGeom>
            <a:solidFill>
              <a:srgbClr val="1D0F2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2">
              <a:extLst>
                <a:ext uri="{FF2B5EF4-FFF2-40B4-BE49-F238E27FC236}">
                  <a16:creationId xmlns:a16="http://schemas.microsoft.com/office/drawing/2014/main" id="{2131EEBD-57F3-7A39-02EC-3DF660406056}"/>
                </a:ext>
              </a:extLst>
            </p:cNvPr>
            <p:cNvSpPr/>
            <p:nvPr/>
          </p:nvSpPr>
          <p:spPr>
            <a:xfrm>
              <a:off x="6864000" y="1910461"/>
              <a:ext cx="3036570" cy="1988820"/>
            </a:xfrm>
            <a:custGeom>
              <a:avLst/>
              <a:gdLst/>
              <a:ahLst/>
              <a:cxnLst/>
              <a:rect l="l" t="t" r="r" b="b"/>
              <a:pathLst>
                <a:path w="3036570" h="1988820">
                  <a:moveTo>
                    <a:pt x="2959800" y="1988459"/>
                  </a:moveTo>
                  <a:lnTo>
                    <a:pt x="76200" y="1988459"/>
                  </a:lnTo>
                  <a:lnTo>
                    <a:pt x="46612" y="1982446"/>
                  </a:lnTo>
                  <a:lnTo>
                    <a:pt x="22383" y="1966075"/>
                  </a:lnTo>
                  <a:lnTo>
                    <a:pt x="6012" y="1941846"/>
                  </a:lnTo>
                  <a:lnTo>
                    <a:pt x="0" y="1912259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9800" y="0"/>
                  </a:lnTo>
                  <a:lnTo>
                    <a:pt x="2989387" y="6012"/>
                  </a:lnTo>
                  <a:lnTo>
                    <a:pt x="2994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912259"/>
                  </a:lnTo>
                  <a:lnTo>
                    <a:pt x="14786" y="1938148"/>
                  </a:lnTo>
                  <a:lnTo>
                    <a:pt x="29110" y="1959348"/>
                  </a:lnTo>
                  <a:lnTo>
                    <a:pt x="50311" y="1973673"/>
                  </a:lnTo>
                  <a:lnTo>
                    <a:pt x="76200" y="1978934"/>
                  </a:lnTo>
                  <a:lnTo>
                    <a:pt x="2994585" y="1978934"/>
                  </a:lnTo>
                  <a:lnTo>
                    <a:pt x="2989387" y="1982446"/>
                  </a:lnTo>
                  <a:lnTo>
                    <a:pt x="2959800" y="1988459"/>
                  </a:lnTo>
                  <a:close/>
                </a:path>
                <a:path w="3036570" h="1988820">
                  <a:moveTo>
                    <a:pt x="2994585" y="1978934"/>
                  </a:moveTo>
                  <a:lnTo>
                    <a:pt x="2959800" y="1978934"/>
                  </a:lnTo>
                  <a:lnTo>
                    <a:pt x="2985688" y="1973673"/>
                  </a:lnTo>
                  <a:lnTo>
                    <a:pt x="3006889" y="1959348"/>
                  </a:lnTo>
                  <a:lnTo>
                    <a:pt x="3021214" y="1938148"/>
                  </a:lnTo>
                  <a:lnTo>
                    <a:pt x="3026475" y="1912259"/>
                  </a:lnTo>
                  <a:lnTo>
                    <a:pt x="3026475" y="76200"/>
                  </a:lnTo>
                  <a:lnTo>
                    <a:pt x="3021214" y="50311"/>
                  </a:lnTo>
                  <a:lnTo>
                    <a:pt x="3006889" y="29110"/>
                  </a:lnTo>
                  <a:lnTo>
                    <a:pt x="2985688" y="14786"/>
                  </a:lnTo>
                  <a:lnTo>
                    <a:pt x="2959800" y="9525"/>
                  </a:lnTo>
                  <a:lnTo>
                    <a:pt x="2994585" y="9525"/>
                  </a:lnTo>
                  <a:lnTo>
                    <a:pt x="3013616" y="22383"/>
                  </a:lnTo>
                  <a:lnTo>
                    <a:pt x="3029987" y="46612"/>
                  </a:lnTo>
                  <a:lnTo>
                    <a:pt x="3036000" y="76200"/>
                  </a:lnTo>
                  <a:lnTo>
                    <a:pt x="3036000" y="1912259"/>
                  </a:lnTo>
                  <a:lnTo>
                    <a:pt x="3029987" y="1941846"/>
                  </a:lnTo>
                  <a:lnTo>
                    <a:pt x="3013616" y="1966075"/>
                  </a:lnTo>
                  <a:lnTo>
                    <a:pt x="2994585" y="1978934"/>
                  </a:lnTo>
                  <a:close/>
                </a:path>
              </a:pathLst>
            </a:custGeom>
            <a:solidFill>
              <a:srgbClr val="D4AF3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3">
              <a:extLst>
                <a:ext uri="{FF2B5EF4-FFF2-40B4-BE49-F238E27FC236}">
                  <a16:creationId xmlns:a16="http://schemas.microsoft.com/office/drawing/2014/main" id="{674892F1-CB95-CCCA-A4C7-D0EB689355D0}"/>
                </a:ext>
              </a:extLst>
            </p:cNvPr>
            <p:cNvSpPr/>
            <p:nvPr/>
          </p:nvSpPr>
          <p:spPr>
            <a:xfrm>
              <a:off x="7125525" y="2373082"/>
              <a:ext cx="2513330" cy="9525"/>
            </a:xfrm>
            <a:custGeom>
              <a:avLst/>
              <a:gdLst/>
              <a:ahLst/>
              <a:cxnLst/>
              <a:rect l="l" t="t" r="r" b="b"/>
              <a:pathLst>
                <a:path w="2513329" h="9525">
                  <a:moveTo>
                    <a:pt x="25129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512950" y="0"/>
                  </a:lnTo>
                  <a:lnTo>
                    <a:pt x="2512950" y="9525"/>
                  </a:lnTo>
                  <a:close/>
                </a:path>
              </a:pathLst>
            </a:custGeom>
            <a:solidFill>
              <a:srgbClr val="D4AF3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22">
            <a:extLst>
              <a:ext uri="{FF2B5EF4-FFF2-40B4-BE49-F238E27FC236}">
                <a16:creationId xmlns:a16="http://schemas.microsoft.com/office/drawing/2014/main" id="{C6525613-139C-CED0-2111-DE11AACCC8B8}"/>
              </a:ext>
            </a:extLst>
          </p:cNvPr>
          <p:cNvSpPr txBox="1"/>
          <p:nvPr/>
        </p:nvSpPr>
        <p:spPr>
          <a:xfrm>
            <a:off x="8294913" y="2083835"/>
            <a:ext cx="2257239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D600"/>
                </a:solidFill>
                <a:latin typeface="Arial"/>
                <a:cs typeface="Arial"/>
              </a:rPr>
              <a:t>Subjective</a:t>
            </a:r>
            <a:r>
              <a:rPr sz="1300" b="1" spc="-2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Early</a:t>
            </a:r>
            <a:r>
              <a:rPr sz="1300" b="1" spc="-2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D600"/>
                </a:solidFill>
                <a:latin typeface="Arial"/>
                <a:cs typeface="Arial"/>
              </a:rPr>
              <a:t>Triage</a:t>
            </a:r>
            <a:endParaRPr sz="1300">
              <a:latin typeface="Arial"/>
              <a:cs typeface="Arial"/>
            </a:endParaRPr>
          </a:p>
        </p:txBody>
      </p:sp>
      <p:sp>
        <p:nvSpPr>
          <p:cNvPr id="40" name="object 28">
            <a:extLst>
              <a:ext uri="{FF2B5EF4-FFF2-40B4-BE49-F238E27FC236}">
                <a16:creationId xmlns:a16="http://schemas.microsoft.com/office/drawing/2014/main" id="{323D924B-24E8-2F54-8112-70C0F8A29FC9}"/>
              </a:ext>
            </a:extLst>
          </p:cNvPr>
          <p:cNvSpPr txBox="1"/>
          <p:nvPr/>
        </p:nvSpPr>
        <p:spPr>
          <a:xfrm>
            <a:off x="8350903" y="2372923"/>
            <a:ext cx="2551081" cy="581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Varied</a:t>
            </a:r>
            <a:r>
              <a:rPr sz="10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Presentation:</a:t>
            </a:r>
            <a:r>
              <a:rPr sz="10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Early</a:t>
            </a:r>
            <a:r>
              <a:rPr sz="1050" spc="-5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joint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distress</a:t>
            </a:r>
            <a:r>
              <a:rPr sz="1050" spc="-5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presents</a:t>
            </a:r>
            <a:r>
              <a:rPr sz="1050" spc="-4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non-specifically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across</a:t>
            </a:r>
            <a:r>
              <a:rPr sz="1050" spc="-4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demographics.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41" name="object 29">
            <a:extLst>
              <a:ext uri="{FF2B5EF4-FFF2-40B4-BE49-F238E27FC236}">
                <a16:creationId xmlns:a16="http://schemas.microsoft.com/office/drawing/2014/main" id="{997B024E-06E7-59B3-871F-18C786BDF20C}"/>
              </a:ext>
            </a:extLst>
          </p:cNvPr>
          <p:cNvSpPr txBox="1"/>
          <p:nvPr/>
        </p:nvSpPr>
        <p:spPr>
          <a:xfrm>
            <a:off x="8354400" y="3038260"/>
            <a:ext cx="2826065" cy="385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Inconsistent</a:t>
            </a:r>
            <a:r>
              <a:rPr sz="10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Triage:</a:t>
            </a:r>
            <a:r>
              <a:rPr sz="10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Lack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of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 unified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risk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scoring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delays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preventative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care.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18E714-6D05-63F1-F84F-E6A81C142123}"/>
              </a:ext>
            </a:extLst>
          </p:cNvPr>
          <p:cNvSpPr txBox="1"/>
          <p:nvPr/>
        </p:nvSpPr>
        <p:spPr>
          <a:xfrm>
            <a:off x="195943" y="4388414"/>
            <a:ext cx="3806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Proposed</a:t>
            </a:r>
            <a:r>
              <a:rPr lang="en-IN" sz="2000" spc="-85" dirty="0">
                <a:solidFill>
                  <a:schemeClr val="bg1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Solution:</a:t>
            </a:r>
          </a:p>
        </p:txBody>
      </p:sp>
      <p:grpSp>
        <p:nvGrpSpPr>
          <p:cNvPr id="66" name="object 2">
            <a:extLst>
              <a:ext uri="{FF2B5EF4-FFF2-40B4-BE49-F238E27FC236}">
                <a16:creationId xmlns:a16="http://schemas.microsoft.com/office/drawing/2014/main" id="{EBC1BFEA-D184-B30B-4166-0807D0F4E981}"/>
              </a:ext>
            </a:extLst>
          </p:cNvPr>
          <p:cNvGrpSpPr/>
          <p:nvPr/>
        </p:nvGrpSpPr>
        <p:grpSpPr>
          <a:xfrm>
            <a:off x="176708" y="4847920"/>
            <a:ext cx="4805097" cy="1929023"/>
            <a:chOff x="792000" y="1910460"/>
            <a:chExt cx="4338320" cy="2290445"/>
          </a:xfrm>
        </p:grpSpPr>
        <p:sp>
          <p:nvSpPr>
            <p:cNvPr id="67" name="object 3">
              <a:extLst>
                <a:ext uri="{FF2B5EF4-FFF2-40B4-BE49-F238E27FC236}">
                  <a16:creationId xmlns:a16="http://schemas.microsoft.com/office/drawing/2014/main" id="{383D815E-6482-5681-7000-7B3122E2D5EC}"/>
                </a:ext>
              </a:extLst>
            </p:cNvPr>
            <p:cNvSpPr/>
            <p:nvPr/>
          </p:nvSpPr>
          <p:spPr>
            <a:xfrm>
              <a:off x="792000" y="1910460"/>
              <a:ext cx="4338320" cy="2290445"/>
            </a:xfrm>
            <a:custGeom>
              <a:avLst/>
              <a:gdLst/>
              <a:ahLst/>
              <a:cxnLst/>
              <a:rect l="l" t="t" r="r" b="b"/>
              <a:pathLst>
                <a:path w="4338320" h="2290445">
                  <a:moveTo>
                    <a:pt x="4261800" y="2289816"/>
                  </a:moveTo>
                  <a:lnTo>
                    <a:pt x="76200" y="2289816"/>
                  </a:lnTo>
                  <a:lnTo>
                    <a:pt x="46612" y="2283804"/>
                  </a:lnTo>
                  <a:lnTo>
                    <a:pt x="22383" y="2267433"/>
                  </a:lnTo>
                  <a:lnTo>
                    <a:pt x="6012" y="2243203"/>
                  </a:lnTo>
                  <a:lnTo>
                    <a:pt x="0" y="2213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261800" y="0"/>
                  </a:lnTo>
                  <a:lnTo>
                    <a:pt x="4291387" y="6012"/>
                  </a:lnTo>
                  <a:lnTo>
                    <a:pt x="4315616" y="22383"/>
                  </a:lnTo>
                  <a:lnTo>
                    <a:pt x="4331987" y="46612"/>
                  </a:lnTo>
                  <a:lnTo>
                    <a:pt x="4338000" y="76200"/>
                  </a:lnTo>
                  <a:lnTo>
                    <a:pt x="4338000" y="2213616"/>
                  </a:lnTo>
                  <a:lnTo>
                    <a:pt x="4331987" y="2243203"/>
                  </a:lnTo>
                  <a:lnTo>
                    <a:pt x="4315616" y="2267433"/>
                  </a:lnTo>
                  <a:lnTo>
                    <a:pt x="4291387" y="2283804"/>
                  </a:lnTo>
                  <a:lnTo>
                    <a:pt x="4261800" y="2289816"/>
                  </a:lnTo>
                  <a:close/>
                </a:path>
              </a:pathLst>
            </a:custGeom>
            <a:solidFill>
              <a:srgbClr val="D4AF36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4">
              <a:extLst>
                <a:ext uri="{FF2B5EF4-FFF2-40B4-BE49-F238E27FC236}">
                  <a16:creationId xmlns:a16="http://schemas.microsoft.com/office/drawing/2014/main" id="{197946F2-26D9-4C1B-EF75-93FC861ADE1F}"/>
                </a:ext>
              </a:extLst>
            </p:cNvPr>
            <p:cNvSpPr/>
            <p:nvPr/>
          </p:nvSpPr>
          <p:spPr>
            <a:xfrm>
              <a:off x="792000" y="1910461"/>
              <a:ext cx="4338320" cy="2290445"/>
            </a:xfrm>
            <a:custGeom>
              <a:avLst/>
              <a:gdLst/>
              <a:ahLst/>
              <a:cxnLst/>
              <a:rect l="l" t="t" r="r" b="b"/>
              <a:pathLst>
                <a:path w="4338320" h="2290445">
                  <a:moveTo>
                    <a:pt x="4261800" y="2289816"/>
                  </a:moveTo>
                  <a:lnTo>
                    <a:pt x="76200" y="2289816"/>
                  </a:lnTo>
                  <a:lnTo>
                    <a:pt x="46612" y="2283804"/>
                  </a:lnTo>
                  <a:lnTo>
                    <a:pt x="22383" y="2267433"/>
                  </a:lnTo>
                  <a:lnTo>
                    <a:pt x="6012" y="2243203"/>
                  </a:lnTo>
                  <a:lnTo>
                    <a:pt x="0" y="2213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261800" y="0"/>
                  </a:lnTo>
                  <a:lnTo>
                    <a:pt x="4291387" y="6012"/>
                  </a:lnTo>
                  <a:lnTo>
                    <a:pt x="4296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213616"/>
                  </a:lnTo>
                  <a:lnTo>
                    <a:pt x="14786" y="2239505"/>
                  </a:lnTo>
                  <a:lnTo>
                    <a:pt x="29110" y="2260706"/>
                  </a:lnTo>
                  <a:lnTo>
                    <a:pt x="50311" y="2275030"/>
                  </a:lnTo>
                  <a:lnTo>
                    <a:pt x="76200" y="2280291"/>
                  </a:lnTo>
                  <a:lnTo>
                    <a:pt x="4296585" y="2280291"/>
                  </a:lnTo>
                  <a:lnTo>
                    <a:pt x="4291387" y="2283804"/>
                  </a:lnTo>
                  <a:lnTo>
                    <a:pt x="4261800" y="2289816"/>
                  </a:lnTo>
                  <a:close/>
                </a:path>
                <a:path w="4338320" h="2290445">
                  <a:moveTo>
                    <a:pt x="4296585" y="2280291"/>
                  </a:moveTo>
                  <a:lnTo>
                    <a:pt x="4261800" y="2280291"/>
                  </a:lnTo>
                  <a:lnTo>
                    <a:pt x="4287688" y="2275030"/>
                  </a:lnTo>
                  <a:lnTo>
                    <a:pt x="4308889" y="2260706"/>
                  </a:lnTo>
                  <a:lnTo>
                    <a:pt x="4323214" y="2239505"/>
                  </a:lnTo>
                  <a:lnTo>
                    <a:pt x="4328475" y="2213616"/>
                  </a:lnTo>
                  <a:lnTo>
                    <a:pt x="4328475" y="76200"/>
                  </a:lnTo>
                  <a:lnTo>
                    <a:pt x="4323214" y="50311"/>
                  </a:lnTo>
                  <a:lnTo>
                    <a:pt x="4308889" y="29110"/>
                  </a:lnTo>
                  <a:lnTo>
                    <a:pt x="4287688" y="14786"/>
                  </a:lnTo>
                  <a:lnTo>
                    <a:pt x="4261800" y="9525"/>
                  </a:lnTo>
                  <a:lnTo>
                    <a:pt x="4296585" y="9525"/>
                  </a:lnTo>
                  <a:lnTo>
                    <a:pt x="4315616" y="22383"/>
                  </a:lnTo>
                  <a:lnTo>
                    <a:pt x="4331987" y="46612"/>
                  </a:lnTo>
                  <a:lnTo>
                    <a:pt x="4338000" y="76200"/>
                  </a:lnTo>
                  <a:lnTo>
                    <a:pt x="4338000" y="2213616"/>
                  </a:lnTo>
                  <a:lnTo>
                    <a:pt x="4331987" y="2243203"/>
                  </a:lnTo>
                  <a:lnTo>
                    <a:pt x="4315616" y="2267433"/>
                  </a:lnTo>
                  <a:lnTo>
                    <a:pt x="4296585" y="2280291"/>
                  </a:lnTo>
                  <a:close/>
                </a:path>
              </a:pathLst>
            </a:custGeom>
            <a:solidFill>
              <a:srgbClr val="D4A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5">
              <a:extLst>
                <a:ext uri="{FF2B5EF4-FFF2-40B4-BE49-F238E27FC236}">
                  <a16:creationId xmlns:a16="http://schemas.microsoft.com/office/drawing/2014/main" id="{340006F1-7285-0652-BF37-B71662FB9A96}"/>
                </a:ext>
              </a:extLst>
            </p:cNvPr>
            <p:cNvSpPr/>
            <p:nvPr/>
          </p:nvSpPr>
          <p:spPr>
            <a:xfrm>
              <a:off x="1053525" y="2373082"/>
              <a:ext cx="3815079" cy="9525"/>
            </a:xfrm>
            <a:custGeom>
              <a:avLst/>
              <a:gdLst/>
              <a:ahLst/>
              <a:cxnLst/>
              <a:rect l="l" t="t" r="r" b="b"/>
              <a:pathLst>
                <a:path w="3815079" h="9525">
                  <a:moveTo>
                    <a:pt x="38149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814950" y="0"/>
                  </a:lnTo>
                  <a:lnTo>
                    <a:pt x="3814950" y="9525"/>
                  </a:lnTo>
                  <a:close/>
                </a:path>
              </a:pathLst>
            </a:custGeom>
            <a:solidFill>
              <a:srgbClr val="D4AF3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16">
            <a:extLst>
              <a:ext uri="{FF2B5EF4-FFF2-40B4-BE49-F238E27FC236}">
                <a16:creationId xmlns:a16="http://schemas.microsoft.com/office/drawing/2014/main" id="{19DDDAE4-EB86-45E2-408E-46E16B7457A9}"/>
              </a:ext>
            </a:extLst>
          </p:cNvPr>
          <p:cNvSpPr txBox="1"/>
          <p:nvPr/>
        </p:nvSpPr>
        <p:spPr>
          <a:xfrm>
            <a:off x="444768" y="5008570"/>
            <a:ext cx="19437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Vision</a:t>
            </a:r>
            <a:r>
              <a:rPr sz="1300" b="1" spc="-4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Engine</a:t>
            </a:r>
            <a:r>
              <a:rPr sz="1300" b="1" spc="-4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FFD600"/>
                </a:solidFill>
                <a:latin typeface="Arial"/>
                <a:cs typeface="Arial"/>
              </a:rPr>
              <a:t>(X-</a:t>
            </a: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Ray</a:t>
            </a:r>
            <a:r>
              <a:rPr sz="1300" b="1" spc="-4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FFD600"/>
                </a:solidFill>
                <a:latin typeface="Arial"/>
                <a:cs typeface="Arial"/>
              </a:rPr>
              <a:t>AI)</a:t>
            </a:r>
            <a:endParaRPr sz="1300">
              <a:latin typeface="Arial"/>
              <a:cs typeface="Arial"/>
            </a:endParaRPr>
          </a:p>
        </p:txBody>
      </p:sp>
      <p:sp>
        <p:nvSpPr>
          <p:cNvPr id="71" name="object 19">
            <a:extLst>
              <a:ext uri="{FF2B5EF4-FFF2-40B4-BE49-F238E27FC236}">
                <a16:creationId xmlns:a16="http://schemas.microsoft.com/office/drawing/2014/main" id="{0FFE7AC6-2DB1-0CBA-9240-6D1247A38D71}"/>
              </a:ext>
            </a:extLst>
          </p:cNvPr>
          <p:cNvSpPr txBox="1"/>
          <p:nvPr/>
        </p:nvSpPr>
        <p:spPr>
          <a:xfrm>
            <a:off x="541024" y="5368465"/>
            <a:ext cx="3391535" cy="41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Imaging</a:t>
            </a:r>
            <a:r>
              <a:rPr sz="10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Intelligence:</a:t>
            </a:r>
            <a:r>
              <a:rPr sz="10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Deep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learning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model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focused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on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radiographic</a:t>
            </a:r>
            <a:r>
              <a:rPr sz="1050" spc="4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biomarkers.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72" name="object 20">
            <a:extLst>
              <a:ext uri="{FF2B5EF4-FFF2-40B4-BE49-F238E27FC236}">
                <a16:creationId xmlns:a16="http://schemas.microsoft.com/office/drawing/2014/main" id="{65BB161E-B7E7-A734-3C64-6EDC621DAE29}"/>
              </a:ext>
            </a:extLst>
          </p:cNvPr>
          <p:cNvSpPr txBox="1"/>
          <p:nvPr/>
        </p:nvSpPr>
        <p:spPr>
          <a:xfrm>
            <a:off x="541024" y="5863180"/>
            <a:ext cx="3704590" cy="41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Structural</a:t>
            </a:r>
            <a:r>
              <a:rPr sz="10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Detection:</a:t>
            </a:r>
            <a:r>
              <a:rPr sz="10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Automated</a:t>
            </a:r>
            <a:r>
              <a:rPr sz="1050" spc="-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identification</a:t>
            </a:r>
            <a:r>
              <a:rPr sz="1050" spc="-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of</a:t>
            </a:r>
            <a:r>
              <a:rPr sz="1050" spc="-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joint</a:t>
            </a:r>
            <a:r>
              <a:rPr sz="1050" spc="-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space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narrowing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&amp;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micro-osteophytes.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3" name="object 21">
            <a:extLst>
              <a:ext uri="{FF2B5EF4-FFF2-40B4-BE49-F238E27FC236}">
                <a16:creationId xmlns:a16="http://schemas.microsoft.com/office/drawing/2014/main" id="{37511D89-B1A1-BF51-3DD4-DA55E539B84D}"/>
              </a:ext>
            </a:extLst>
          </p:cNvPr>
          <p:cNvSpPr txBox="1"/>
          <p:nvPr/>
        </p:nvSpPr>
        <p:spPr>
          <a:xfrm>
            <a:off x="541024" y="6357895"/>
            <a:ext cx="3633470" cy="41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r>
              <a:rPr sz="10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Insights:</a:t>
            </a:r>
            <a:r>
              <a:rPr sz="10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Generates</a:t>
            </a:r>
            <a:r>
              <a:rPr sz="1050" spc="-1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heatmaps</a:t>
            </a:r>
            <a:r>
              <a:rPr sz="1050" spc="-1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for</a:t>
            </a:r>
            <a:r>
              <a:rPr sz="1050" spc="-1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objective</a:t>
            </a:r>
            <a:r>
              <a:rPr sz="1050" spc="-1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clinician validation.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74" name="object 6">
            <a:extLst>
              <a:ext uri="{FF2B5EF4-FFF2-40B4-BE49-F238E27FC236}">
                <a16:creationId xmlns:a16="http://schemas.microsoft.com/office/drawing/2014/main" id="{A17A2340-41BE-FED7-BBBD-25AAC83F5101}"/>
              </a:ext>
            </a:extLst>
          </p:cNvPr>
          <p:cNvGrpSpPr/>
          <p:nvPr/>
        </p:nvGrpSpPr>
        <p:grpSpPr>
          <a:xfrm>
            <a:off x="5484207" y="4847920"/>
            <a:ext cx="4904914" cy="1929023"/>
            <a:chOff x="5562000" y="1910460"/>
            <a:chExt cx="4338320" cy="2290445"/>
          </a:xfrm>
        </p:grpSpPr>
        <p:sp>
          <p:nvSpPr>
            <p:cNvPr id="75" name="object 7">
              <a:extLst>
                <a:ext uri="{FF2B5EF4-FFF2-40B4-BE49-F238E27FC236}">
                  <a16:creationId xmlns:a16="http://schemas.microsoft.com/office/drawing/2014/main" id="{538AD97E-422E-F76B-6B3C-DE03879960A8}"/>
                </a:ext>
              </a:extLst>
            </p:cNvPr>
            <p:cNvSpPr/>
            <p:nvPr/>
          </p:nvSpPr>
          <p:spPr>
            <a:xfrm>
              <a:off x="5562000" y="1910460"/>
              <a:ext cx="4338320" cy="2290445"/>
            </a:xfrm>
            <a:custGeom>
              <a:avLst/>
              <a:gdLst/>
              <a:ahLst/>
              <a:cxnLst/>
              <a:rect l="l" t="t" r="r" b="b"/>
              <a:pathLst>
                <a:path w="4338320" h="2290445">
                  <a:moveTo>
                    <a:pt x="4261800" y="2289816"/>
                  </a:moveTo>
                  <a:lnTo>
                    <a:pt x="76200" y="2289816"/>
                  </a:lnTo>
                  <a:lnTo>
                    <a:pt x="46612" y="2283804"/>
                  </a:lnTo>
                  <a:lnTo>
                    <a:pt x="22383" y="2267433"/>
                  </a:lnTo>
                  <a:lnTo>
                    <a:pt x="6012" y="2243203"/>
                  </a:lnTo>
                  <a:lnTo>
                    <a:pt x="0" y="2213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261800" y="0"/>
                  </a:lnTo>
                  <a:lnTo>
                    <a:pt x="4291387" y="6012"/>
                  </a:lnTo>
                  <a:lnTo>
                    <a:pt x="4315616" y="22383"/>
                  </a:lnTo>
                  <a:lnTo>
                    <a:pt x="4331987" y="46612"/>
                  </a:lnTo>
                  <a:lnTo>
                    <a:pt x="4338000" y="76200"/>
                  </a:lnTo>
                  <a:lnTo>
                    <a:pt x="4338000" y="2213616"/>
                  </a:lnTo>
                  <a:lnTo>
                    <a:pt x="4331987" y="2243203"/>
                  </a:lnTo>
                  <a:lnTo>
                    <a:pt x="4315616" y="2267433"/>
                  </a:lnTo>
                  <a:lnTo>
                    <a:pt x="4291387" y="2283804"/>
                  </a:lnTo>
                  <a:lnTo>
                    <a:pt x="4261800" y="2289816"/>
                  </a:lnTo>
                  <a:close/>
                </a:path>
              </a:pathLst>
            </a:custGeom>
            <a:solidFill>
              <a:srgbClr val="D4AF36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8">
              <a:extLst>
                <a:ext uri="{FF2B5EF4-FFF2-40B4-BE49-F238E27FC236}">
                  <a16:creationId xmlns:a16="http://schemas.microsoft.com/office/drawing/2014/main" id="{717FAE97-5718-72CE-C889-2DC046A9A28F}"/>
                </a:ext>
              </a:extLst>
            </p:cNvPr>
            <p:cNvSpPr/>
            <p:nvPr/>
          </p:nvSpPr>
          <p:spPr>
            <a:xfrm>
              <a:off x="5562000" y="1910461"/>
              <a:ext cx="4338320" cy="2290445"/>
            </a:xfrm>
            <a:custGeom>
              <a:avLst/>
              <a:gdLst/>
              <a:ahLst/>
              <a:cxnLst/>
              <a:rect l="l" t="t" r="r" b="b"/>
              <a:pathLst>
                <a:path w="4338320" h="2290445">
                  <a:moveTo>
                    <a:pt x="4261800" y="2289816"/>
                  </a:moveTo>
                  <a:lnTo>
                    <a:pt x="76200" y="2289816"/>
                  </a:lnTo>
                  <a:lnTo>
                    <a:pt x="46612" y="2283804"/>
                  </a:lnTo>
                  <a:lnTo>
                    <a:pt x="22383" y="2267433"/>
                  </a:lnTo>
                  <a:lnTo>
                    <a:pt x="6012" y="2243203"/>
                  </a:lnTo>
                  <a:lnTo>
                    <a:pt x="0" y="2213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261800" y="0"/>
                  </a:lnTo>
                  <a:lnTo>
                    <a:pt x="4291387" y="6012"/>
                  </a:lnTo>
                  <a:lnTo>
                    <a:pt x="4296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213616"/>
                  </a:lnTo>
                  <a:lnTo>
                    <a:pt x="14786" y="2239505"/>
                  </a:lnTo>
                  <a:lnTo>
                    <a:pt x="29110" y="2260706"/>
                  </a:lnTo>
                  <a:lnTo>
                    <a:pt x="50311" y="2275030"/>
                  </a:lnTo>
                  <a:lnTo>
                    <a:pt x="76200" y="2280291"/>
                  </a:lnTo>
                  <a:lnTo>
                    <a:pt x="4296585" y="2280291"/>
                  </a:lnTo>
                  <a:lnTo>
                    <a:pt x="4291387" y="2283804"/>
                  </a:lnTo>
                  <a:lnTo>
                    <a:pt x="4261800" y="2289816"/>
                  </a:lnTo>
                  <a:close/>
                </a:path>
                <a:path w="4338320" h="2290445">
                  <a:moveTo>
                    <a:pt x="4296585" y="2280291"/>
                  </a:moveTo>
                  <a:lnTo>
                    <a:pt x="4261800" y="2280291"/>
                  </a:lnTo>
                  <a:lnTo>
                    <a:pt x="4287688" y="2275030"/>
                  </a:lnTo>
                  <a:lnTo>
                    <a:pt x="4308889" y="2260706"/>
                  </a:lnTo>
                  <a:lnTo>
                    <a:pt x="4323214" y="2239505"/>
                  </a:lnTo>
                  <a:lnTo>
                    <a:pt x="4328475" y="2213616"/>
                  </a:lnTo>
                  <a:lnTo>
                    <a:pt x="4328475" y="76200"/>
                  </a:lnTo>
                  <a:lnTo>
                    <a:pt x="4323214" y="50311"/>
                  </a:lnTo>
                  <a:lnTo>
                    <a:pt x="4308889" y="29110"/>
                  </a:lnTo>
                  <a:lnTo>
                    <a:pt x="4287688" y="14786"/>
                  </a:lnTo>
                  <a:lnTo>
                    <a:pt x="4261800" y="9525"/>
                  </a:lnTo>
                  <a:lnTo>
                    <a:pt x="4296585" y="9525"/>
                  </a:lnTo>
                  <a:lnTo>
                    <a:pt x="4315616" y="22383"/>
                  </a:lnTo>
                  <a:lnTo>
                    <a:pt x="4331987" y="46612"/>
                  </a:lnTo>
                  <a:lnTo>
                    <a:pt x="4338000" y="76200"/>
                  </a:lnTo>
                  <a:lnTo>
                    <a:pt x="4338000" y="2213616"/>
                  </a:lnTo>
                  <a:lnTo>
                    <a:pt x="4331987" y="2243203"/>
                  </a:lnTo>
                  <a:lnTo>
                    <a:pt x="4315616" y="2267433"/>
                  </a:lnTo>
                  <a:lnTo>
                    <a:pt x="4296585" y="2280291"/>
                  </a:lnTo>
                  <a:close/>
                </a:path>
              </a:pathLst>
            </a:custGeom>
            <a:solidFill>
              <a:srgbClr val="D4A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9">
              <a:extLst>
                <a:ext uri="{FF2B5EF4-FFF2-40B4-BE49-F238E27FC236}">
                  <a16:creationId xmlns:a16="http://schemas.microsoft.com/office/drawing/2014/main" id="{390E8F42-3A7E-5BB0-3846-086FABB0F347}"/>
                </a:ext>
              </a:extLst>
            </p:cNvPr>
            <p:cNvSpPr/>
            <p:nvPr/>
          </p:nvSpPr>
          <p:spPr>
            <a:xfrm>
              <a:off x="5823525" y="2373082"/>
              <a:ext cx="3815079" cy="9525"/>
            </a:xfrm>
            <a:custGeom>
              <a:avLst/>
              <a:gdLst/>
              <a:ahLst/>
              <a:cxnLst/>
              <a:rect l="l" t="t" r="r" b="b"/>
              <a:pathLst>
                <a:path w="3815079" h="9525">
                  <a:moveTo>
                    <a:pt x="38149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814950" y="0"/>
                  </a:lnTo>
                  <a:lnTo>
                    <a:pt x="3814950" y="9525"/>
                  </a:lnTo>
                  <a:close/>
                </a:path>
              </a:pathLst>
            </a:custGeom>
            <a:solidFill>
              <a:srgbClr val="D4AF3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17">
            <a:extLst>
              <a:ext uri="{FF2B5EF4-FFF2-40B4-BE49-F238E27FC236}">
                <a16:creationId xmlns:a16="http://schemas.microsoft.com/office/drawing/2014/main" id="{E0E29145-7767-9B60-32E6-0D71B5EBD956}"/>
              </a:ext>
            </a:extLst>
          </p:cNvPr>
          <p:cNvSpPr txBox="1"/>
          <p:nvPr/>
        </p:nvSpPr>
        <p:spPr>
          <a:xfrm>
            <a:off x="5985261" y="4886660"/>
            <a:ext cx="2417996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Analytics</a:t>
            </a:r>
            <a:r>
              <a:rPr sz="1300" b="1" spc="-5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Engine</a:t>
            </a:r>
            <a:r>
              <a:rPr sz="1300" b="1" spc="-5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(Risk</a:t>
            </a:r>
            <a:r>
              <a:rPr sz="1300" b="1" spc="-5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FFD600"/>
                </a:solidFill>
                <a:latin typeface="Arial"/>
                <a:cs typeface="Arial"/>
              </a:rPr>
              <a:t>ML)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79" name="object 22">
            <a:extLst>
              <a:ext uri="{FF2B5EF4-FFF2-40B4-BE49-F238E27FC236}">
                <a16:creationId xmlns:a16="http://schemas.microsoft.com/office/drawing/2014/main" id="{91A00E28-08EA-4961-B58E-079EB196C6CB}"/>
              </a:ext>
            </a:extLst>
          </p:cNvPr>
          <p:cNvSpPr txBox="1"/>
          <p:nvPr/>
        </p:nvSpPr>
        <p:spPr>
          <a:xfrm>
            <a:off x="5847062" y="5208636"/>
            <a:ext cx="4118060" cy="385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Epidemiological Intelligence: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Multivariable</a:t>
            </a:r>
            <a:r>
              <a:rPr sz="1050" spc="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risk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calculation platform.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80" name="object 23">
            <a:extLst>
              <a:ext uri="{FF2B5EF4-FFF2-40B4-BE49-F238E27FC236}">
                <a16:creationId xmlns:a16="http://schemas.microsoft.com/office/drawing/2014/main" id="{EF471879-D6E2-B04F-938E-99FB3AB9742B}"/>
              </a:ext>
            </a:extLst>
          </p:cNvPr>
          <p:cNvSpPr txBox="1"/>
          <p:nvPr/>
        </p:nvSpPr>
        <p:spPr>
          <a:xfrm>
            <a:off x="5897812" y="5648803"/>
            <a:ext cx="3575303" cy="385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Contextual</a:t>
            </a:r>
            <a:r>
              <a:rPr sz="10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Features:</a:t>
            </a:r>
            <a:r>
              <a:rPr sz="10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Integrates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Age,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BMI,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Activity,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Occupation,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and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Medical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History.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81" name="object 24">
            <a:extLst>
              <a:ext uri="{FF2B5EF4-FFF2-40B4-BE49-F238E27FC236}">
                <a16:creationId xmlns:a16="http://schemas.microsoft.com/office/drawing/2014/main" id="{2A6E73A1-2096-BE12-6795-A832D5EE5EC4}"/>
              </a:ext>
            </a:extLst>
          </p:cNvPr>
          <p:cNvSpPr txBox="1"/>
          <p:nvPr/>
        </p:nvSpPr>
        <p:spPr>
          <a:xfrm>
            <a:off x="5905143" y="6143518"/>
            <a:ext cx="3984525" cy="385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Baseline</a:t>
            </a:r>
            <a:r>
              <a:rPr sz="10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Probability:</a:t>
            </a:r>
            <a:r>
              <a:rPr sz="10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Quantifies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risk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prior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to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or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alongside radiographic</a:t>
            </a:r>
            <a:r>
              <a:rPr sz="1050" spc="4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scans.</a:t>
            </a:r>
            <a:endParaRPr sz="10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18FF61-1857-DD5F-D4B4-32B1030BFE8C}"/>
              </a:ext>
            </a:extLst>
          </p:cNvPr>
          <p:cNvGrpSpPr/>
          <p:nvPr/>
        </p:nvGrpSpPr>
        <p:grpSpPr>
          <a:xfrm>
            <a:off x="-132735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1AED31AE-ABCF-23A6-5C8B-83D0AC31EA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1F32D93C-7343-8AF4-F453-702DCD511F7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-24581" y="-13826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" name="Google Shape;123;p15"/>
          <p:cNvSpPr txBox="1"/>
          <p:nvPr/>
        </p:nvSpPr>
        <p:spPr>
          <a:xfrm>
            <a:off x="772446" y="27824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APPROACH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E2B5A-0D8D-0AB1-E15B-5102336B7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34" name="object 19" descr="$PPTXTitle">
            <a:extLst>
              <a:ext uri="{FF2B5EF4-FFF2-40B4-BE49-F238E27FC236}">
                <a16:creationId xmlns:a16="http://schemas.microsoft.com/office/drawing/2014/main" id="{046507DA-9973-031A-6F72-142FBF741C87}"/>
              </a:ext>
            </a:extLst>
          </p:cNvPr>
          <p:cNvSpPr txBox="1">
            <a:spLocks/>
          </p:cNvSpPr>
          <p:nvPr/>
        </p:nvSpPr>
        <p:spPr>
          <a:xfrm>
            <a:off x="476811" y="1479631"/>
            <a:ext cx="72320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just">
              <a:spcBef>
                <a:spcPts val="100"/>
              </a:spcBef>
            </a:pPr>
            <a:r>
              <a:rPr lang="en-IN" sz="2000" spc="-20" dirty="0">
                <a:solidFill>
                  <a:schemeClr val="bg1"/>
                </a:solidFill>
              </a:rPr>
              <a:t>Dual-</a:t>
            </a:r>
            <a:r>
              <a:rPr lang="en-IN" sz="2000" dirty="0">
                <a:solidFill>
                  <a:schemeClr val="bg1"/>
                </a:solidFill>
              </a:rPr>
              <a:t>Engine</a:t>
            </a:r>
            <a:r>
              <a:rPr lang="en-IN" sz="2000" spc="-65" dirty="0">
                <a:solidFill>
                  <a:schemeClr val="bg1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Synergy</a:t>
            </a:r>
            <a:r>
              <a:rPr lang="en-IN" sz="2000" spc="-50" dirty="0">
                <a:solidFill>
                  <a:schemeClr val="bg1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&amp;</a:t>
            </a:r>
            <a:r>
              <a:rPr lang="en-IN" sz="2000" spc="-55" dirty="0">
                <a:solidFill>
                  <a:schemeClr val="bg1"/>
                </a:solidFill>
              </a:rPr>
              <a:t> </a:t>
            </a:r>
            <a:r>
              <a:rPr lang="en-IN" sz="2000" spc="-10" dirty="0">
                <a:solidFill>
                  <a:schemeClr val="bg1"/>
                </a:solidFill>
              </a:rPr>
              <a:t>Workflow</a:t>
            </a:r>
            <a:r>
              <a:rPr lang="en-IN" sz="2000" spc="-50" dirty="0">
                <a:solidFill>
                  <a:schemeClr val="bg1"/>
                </a:solidFill>
              </a:rPr>
              <a:t> </a:t>
            </a:r>
            <a:r>
              <a:rPr lang="en-IN" sz="2000" spc="-10" dirty="0">
                <a:solidFill>
                  <a:schemeClr val="bg1"/>
                </a:solidFill>
              </a:rPr>
              <a:t>Pipeline</a:t>
            </a:r>
          </a:p>
        </p:txBody>
      </p:sp>
      <p:sp>
        <p:nvSpPr>
          <p:cNvPr id="49" name="object 4">
            <a:extLst>
              <a:ext uri="{FF2B5EF4-FFF2-40B4-BE49-F238E27FC236}">
                <a16:creationId xmlns:a16="http://schemas.microsoft.com/office/drawing/2014/main" id="{F70A2F80-DD9A-D022-B071-823F6EE79F33}"/>
              </a:ext>
            </a:extLst>
          </p:cNvPr>
          <p:cNvSpPr/>
          <p:nvPr/>
        </p:nvSpPr>
        <p:spPr>
          <a:xfrm>
            <a:off x="4430328" y="1854670"/>
            <a:ext cx="4102972" cy="856634"/>
          </a:xfrm>
          <a:custGeom>
            <a:avLst/>
            <a:gdLst/>
            <a:ahLst/>
            <a:cxnLst/>
            <a:rect l="l" t="t" r="r" b="b"/>
            <a:pathLst>
              <a:path w="2856229" h="584835">
                <a:moveTo>
                  <a:pt x="2798850" y="584356"/>
                </a:moveTo>
                <a:lnTo>
                  <a:pt x="57150" y="584356"/>
                </a:lnTo>
                <a:lnTo>
                  <a:pt x="34959" y="579846"/>
                </a:lnTo>
                <a:lnTo>
                  <a:pt x="16787" y="567568"/>
                </a:lnTo>
                <a:lnTo>
                  <a:pt x="4509" y="549396"/>
                </a:lnTo>
                <a:lnTo>
                  <a:pt x="0" y="527206"/>
                </a:lnTo>
                <a:lnTo>
                  <a:pt x="0" y="57150"/>
                </a:lnTo>
                <a:lnTo>
                  <a:pt x="4509" y="34959"/>
                </a:lnTo>
                <a:lnTo>
                  <a:pt x="16787" y="16787"/>
                </a:lnTo>
                <a:lnTo>
                  <a:pt x="34959" y="4509"/>
                </a:lnTo>
                <a:lnTo>
                  <a:pt x="57150" y="0"/>
                </a:lnTo>
                <a:lnTo>
                  <a:pt x="2798850" y="0"/>
                </a:lnTo>
                <a:lnTo>
                  <a:pt x="2821040" y="4509"/>
                </a:lnTo>
                <a:lnTo>
                  <a:pt x="2828463" y="9525"/>
                </a:lnTo>
                <a:lnTo>
                  <a:pt x="57150" y="9525"/>
                </a:lnTo>
                <a:lnTo>
                  <a:pt x="38658" y="13282"/>
                </a:lnTo>
                <a:lnTo>
                  <a:pt x="23514" y="23514"/>
                </a:lnTo>
                <a:lnTo>
                  <a:pt x="13282" y="38658"/>
                </a:lnTo>
                <a:lnTo>
                  <a:pt x="9525" y="57150"/>
                </a:lnTo>
                <a:lnTo>
                  <a:pt x="9525" y="527206"/>
                </a:lnTo>
                <a:lnTo>
                  <a:pt x="13282" y="545698"/>
                </a:lnTo>
                <a:lnTo>
                  <a:pt x="23514" y="560841"/>
                </a:lnTo>
                <a:lnTo>
                  <a:pt x="38658" y="571073"/>
                </a:lnTo>
                <a:lnTo>
                  <a:pt x="57150" y="574831"/>
                </a:lnTo>
                <a:lnTo>
                  <a:pt x="2828463" y="574831"/>
                </a:lnTo>
                <a:lnTo>
                  <a:pt x="2821040" y="579846"/>
                </a:lnTo>
                <a:lnTo>
                  <a:pt x="2798850" y="584356"/>
                </a:lnTo>
                <a:close/>
              </a:path>
              <a:path w="2856229" h="584835">
                <a:moveTo>
                  <a:pt x="2828463" y="574831"/>
                </a:moveTo>
                <a:lnTo>
                  <a:pt x="2798850" y="574831"/>
                </a:lnTo>
                <a:lnTo>
                  <a:pt x="2817341" y="571073"/>
                </a:lnTo>
                <a:lnTo>
                  <a:pt x="2832485" y="560841"/>
                </a:lnTo>
                <a:lnTo>
                  <a:pt x="2842717" y="545698"/>
                </a:lnTo>
                <a:lnTo>
                  <a:pt x="2846475" y="527206"/>
                </a:lnTo>
                <a:lnTo>
                  <a:pt x="2846475" y="57150"/>
                </a:lnTo>
                <a:lnTo>
                  <a:pt x="2842717" y="38658"/>
                </a:lnTo>
                <a:lnTo>
                  <a:pt x="2832485" y="23514"/>
                </a:lnTo>
                <a:lnTo>
                  <a:pt x="2817341" y="13282"/>
                </a:lnTo>
                <a:lnTo>
                  <a:pt x="2798850" y="9525"/>
                </a:lnTo>
                <a:lnTo>
                  <a:pt x="2828463" y="9525"/>
                </a:lnTo>
                <a:lnTo>
                  <a:pt x="2839212" y="16787"/>
                </a:lnTo>
                <a:lnTo>
                  <a:pt x="2851490" y="34959"/>
                </a:lnTo>
                <a:lnTo>
                  <a:pt x="2856000" y="57150"/>
                </a:lnTo>
                <a:lnTo>
                  <a:pt x="2856000" y="527206"/>
                </a:lnTo>
                <a:lnTo>
                  <a:pt x="2851490" y="549396"/>
                </a:lnTo>
                <a:lnTo>
                  <a:pt x="2839212" y="567568"/>
                </a:lnTo>
                <a:lnTo>
                  <a:pt x="2828463" y="574831"/>
                </a:lnTo>
                <a:close/>
              </a:path>
            </a:pathLst>
          </a:custGeom>
          <a:solidFill>
            <a:srgbClr val="D4AF36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31D617-6B9C-345F-26A0-21C971030934}"/>
              </a:ext>
            </a:extLst>
          </p:cNvPr>
          <p:cNvSpPr txBox="1"/>
          <p:nvPr/>
        </p:nvSpPr>
        <p:spPr>
          <a:xfrm>
            <a:off x="476810" y="1874895"/>
            <a:ext cx="6762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dirty="0">
                <a:solidFill>
                  <a:schemeClr val="bg1"/>
                </a:solidFill>
              </a:rPr>
              <a:t>Component</a:t>
            </a:r>
            <a:r>
              <a:rPr lang="it-IT" sz="1800" spc="-55" dirty="0">
                <a:solidFill>
                  <a:schemeClr val="bg1"/>
                </a:solidFill>
              </a:rPr>
              <a:t> </a:t>
            </a:r>
            <a:r>
              <a:rPr lang="it-IT" sz="1800" dirty="0">
                <a:solidFill>
                  <a:schemeClr val="bg1"/>
                </a:solidFill>
              </a:rPr>
              <a:t>1:</a:t>
            </a:r>
            <a:r>
              <a:rPr lang="it-IT" sz="1800" spc="-55" dirty="0">
                <a:solidFill>
                  <a:schemeClr val="bg1"/>
                </a:solidFill>
              </a:rPr>
              <a:t> </a:t>
            </a:r>
            <a:r>
              <a:rPr lang="it-IT" sz="1800" spc="-45" dirty="0">
                <a:solidFill>
                  <a:schemeClr val="bg1"/>
                </a:solidFill>
              </a:rPr>
              <a:t>X-</a:t>
            </a:r>
            <a:r>
              <a:rPr lang="it-IT" sz="1800" dirty="0">
                <a:solidFill>
                  <a:schemeClr val="bg1"/>
                </a:solidFill>
              </a:rPr>
              <a:t>Ray</a:t>
            </a:r>
            <a:r>
              <a:rPr lang="it-IT" sz="1800" spc="-50" dirty="0">
                <a:solidFill>
                  <a:schemeClr val="bg1"/>
                </a:solidFill>
              </a:rPr>
              <a:t> </a:t>
            </a:r>
            <a:r>
              <a:rPr lang="it-IT" sz="1800" dirty="0">
                <a:solidFill>
                  <a:schemeClr val="bg1"/>
                </a:solidFill>
              </a:rPr>
              <a:t>AI</a:t>
            </a:r>
            <a:r>
              <a:rPr lang="it-IT" sz="1800" spc="-55" dirty="0">
                <a:solidFill>
                  <a:schemeClr val="bg1"/>
                </a:solidFill>
              </a:rPr>
              <a:t> </a:t>
            </a:r>
            <a:r>
              <a:rPr lang="it-IT" sz="1800" dirty="0">
                <a:solidFill>
                  <a:schemeClr val="bg1"/>
                </a:solidFill>
              </a:rPr>
              <a:t>Model</a:t>
            </a:r>
            <a:r>
              <a:rPr lang="it-IT" sz="1800" spc="-50" dirty="0">
                <a:solidFill>
                  <a:schemeClr val="bg1"/>
                </a:solidFill>
              </a:rPr>
              <a:t> </a:t>
            </a:r>
            <a:r>
              <a:rPr lang="it-IT" sz="1800" dirty="0">
                <a:solidFill>
                  <a:schemeClr val="bg1"/>
                </a:solidFill>
              </a:rPr>
              <a:t>(Computer Vision</a:t>
            </a:r>
            <a:endParaRPr lang="en-IN" sz="1800" dirty="0">
              <a:solidFill>
                <a:schemeClr val="bg1"/>
              </a:solidFill>
            </a:endParaRPr>
          </a:p>
        </p:txBody>
      </p:sp>
      <p:grpSp>
        <p:nvGrpSpPr>
          <p:cNvPr id="55" name="object 2">
            <a:extLst>
              <a:ext uri="{FF2B5EF4-FFF2-40B4-BE49-F238E27FC236}">
                <a16:creationId xmlns:a16="http://schemas.microsoft.com/office/drawing/2014/main" id="{1AE0E27A-6261-B7CF-98A8-204DB01D832F}"/>
              </a:ext>
            </a:extLst>
          </p:cNvPr>
          <p:cNvGrpSpPr/>
          <p:nvPr/>
        </p:nvGrpSpPr>
        <p:grpSpPr>
          <a:xfrm>
            <a:off x="571500" y="2456578"/>
            <a:ext cx="4397033" cy="3665935"/>
            <a:chOff x="792000" y="1910460"/>
            <a:chExt cx="4338320" cy="2290445"/>
          </a:xfrm>
        </p:grpSpPr>
        <p:sp>
          <p:nvSpPr>
            <p:cNvPr id="56" name="object 3">
              <a:extLst>
                <a:ext uri="{FF2B5EF4-FFF2-40B4-BE49-F238E27FC236}">
                  <a16:creationId xmlns:a16="http://schemas.microsoft.com/office/drawing/2014/main" id="{7BA0FE35-A571-E460-71AB-F8541E5B8171}"/>
                </a:ext>
              </a:extLst>
            </p:cNvPr>
            <p:cNvSpPr/>
            <p:nvPr/>
          </p:nvSpPr>
          <p:spPr>
            <a:xfrm>
              <a:off x="792000" y="1910460"/>
              <a:ext cx="4338320" cy="2290445"/>
            </a:xfrm>
            <a:custGeom>
              <a:avLst/>
              <a:gdLst/>
              <a:ahLst/>
              <a:cxnLst/>
              <a:rect l="l" t="t" r="r" b="b"/>
              <a:pathLst>
                <a:path w="4338320" h="2290445">
                  <a:moveTo>
                    <a:pt x="4261800" y="2289816"/>
                  </a:moveTo>
                  <a:lnTo>
                    <a:pt x="76200" y="2289816"/>
                  </a:lnTo>
                  <a:lnTo>
                    <a:pt x="46612" y="2283804"/>
                  </a:lnTo>
                  <a:lnTo>
                    <a:pt x="22383" y="2267433"/>
                  </a:lnTo>
                  <a:lnTo>
                    <a:pt x="6012" y="2243203"/>
                  </a:lnTo>
                  <a:lnTo>
                    <a:pt x="0" y="2213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261800" y="0"/>
                  </a:lnTo>
                  <a:lnTo>
                    <a:pt x="4291387" y="6012"/>
                  </a:lnTo>
                  <a:lnTo>
                    <a:pt x="4315616" y="22383"/>
                  </a:lnTo>
                  <a:lnTo>
                    <a:pt x="4331987" y="46612"/>
                  </a:lnTo>
                  <a:lnTo>
                    <a:pt x="4338000" y="76200"/>
                  </a:lnTo>
                  <a:lnTo>
                    <a:pt x="4338000" y="2213616"/>
                  </a:lnTo>
                  <a:lnTo>
                    <a:pt x="4331987" y="2243203"/>
                  </a:lnTo>
                  <a:lnTo>
                    <a:pt x="4315616" y="2267433"/>
                  </a:lnTo>
                  <a:lnTo>
                    <a:pt x="4291387" y="2283804"/>
                  </a:lnTo>
                  <a:lnTo>
                    <a:pt x="4261800" y="2289816"/>
                  </a:lnTo>
                  <a:close/>
                </a:path>
              </a:pathLst>
            </a:custGeom>
            <a:solidFill>
              <a:srgbClr val="1D0F2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4">
              <a:extLst>
                <a:ext uri="{FF2B5EF4-FFF2-40B4-BE49-F238E27FC236}">
                  <a16:creationId xmlns:a16="http://schemas.microsoft.com/office/drawing/2014/main" id="{3E67B3D6-9924-E01C-8F28-A4C43C18FCD4}"/>
                </a:ext>
              </a:extLst>
            </p:cNvPr>
            <p:cNvSpPr/>
            <p:nvPr/>
          </p:nvSpPr>
          <p:spPr>
            <a:xfrm>
              <a:off x="792000" y="1910461"/>
              <a:ext cx="4338320" cy="2290445"/>
            </a:xfrm>
            <a:custGeom>
              <a:avLst/>
              <a:gdLst/>
              <a:ahLst/>
              <a:cxnLst/>
              <a:rect l="l" t="t" r="r" b="b"/>
              <a:pathLst>
                <a:path w="4338320" h="2290445">
                  <a:moveTo>
                    <a:pt x="4261800" y="2289816"/>
                  </a:moveTo>
                  <a:lnTo>
                    <a:pt x="76200" y="2289816"/>
                  </a:lnTo>
                  <a:lnTo>
                    <a:pt x="46612" y="2283804"/>
                  </a:lnTo>
                  <a:lnTo>
                    <a:pt x="22383" y="2267433"/>
                  </a:lnTo>
                  <a:lnTo>
                    <a:pt x="6012" y="2243203"/>
                  </a:lnTo>
                  <a:lnTo>
                    <a:pt x="0" y="2213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261800" y="0"/>
                  </a:lnTo>
                  <a:lnTo>
                    <a:pt x="4291387" y="6012"/>
                  </a:lnTo>
                  <a:lnTo>
                    <a:pt x="4296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213616"/>
                  </a:lnTo>
                  <a:lnTo>
                    <a:pt x="14786" y="2239505"/>
                  </a:lnTo>
                  <a:lnTo>
                    <a:pt x="29110" y="2260706"/>
                  </a:lnTo>
                  <a:lnTo>
                    <a:pt x="50311" y="2275030"/>
                  </a:lnTo>
                  <a:lnTo>
                    <a:pt x="76200" y="2280291"/>
                  </a:lnTo>
                  <a:lnTo>
                    <a:pt x="4296585" y="2280291"/>
                  </a:lnTo>
                  <a:lnTo>
                    <a:pt x="4291387" y="2283804"/>
                  </a:lnTo>
                  <a:lnTo>
                    <a:pt x="4261800" y="2289816"/>
                  </a:lnTo>
                  <a:close/>
                </a:path>
                <a:path w="4338320" h="2290445">
                  <a:moveTo>
                    <a:pt x="4296585" y="2280291"/>
                  </a:moveTo>
                  <a:lnTo>
                    <a:pt x="4261800" y="2280291"/>
                  </a:lnTo>
                  <a:lnTo>
                    <a:pt x="4287688" y="2275030"/>
                  </a:lnTo>
                  <a:lnTo>
                    <a:pt x="4308889" y="2260706"/>
                  </a:lnTo>
                  <a:lnTo>
                    <a:pt x="4323214" y="2239505"/>
                  </a:lnTo>
                  <a:lnTo>
                    <a:pt x="4328475" y="2213616"/>
                  </a:lnTo>
                  <a:lnTo>
                    <a:pt x="4328475" y="76200"/>
                  </a:lnTo>
                  <a:lnTo>
                    <a:pt x="4323214" y="50311"/>
                  </a:lnTo>
                  <a:lnTo>
                    <a:pt x="4308889" y="29110"/>
                  </a:lnTo>
                  <a:lnTo>
                    <a:pt x="4287688" y="14786"/>
                  </a:lnTo>
                  <a:lnTo>
                    <a:pt x="4261800" y="9525"/>
                  </a:lnTo>
                  <a:lnTo>
                    <a:pt x="4296585" y="9525"/>
                  </a:lnTo>
                  <a:lnTo>
                    <a:pt x="4315616" y="22383"/>
                  </a:lnTo>
                  <a:lnTo>
                    <a:pt x="4331987" y="46612"/>
                  </a:lnTo>
                  <a:lnTo>
                    <a:pt x="4338000" y="76200"/>
                  </a:lnTo>
                  <a:lnTo>
                    <a:pt x="4338000" y="2213616"/>
                  </a:lnTo>
                  <a:lnTo>
                    <a:pt x="4331987" y="2243203"/>
                  </a:lnTo>
                  <a:lnTo>
                    <a:pt x="4315616" y="2267433"/>
                  </a:lnTo>
                  <a:lnTo>
                    <a:pt x="4296585" y="2280291"/>
                  </a:lnTo>
                  <a:close/>
                </a:path>
              </a:pathLst>
            </a:custGeom>
            <a:solidFill>
              <a:srgbClr val="D4AF3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">
              <a:extLst>
                <a:ext uri="{FF2B5EF4-FFF2-40B4-BE49-F238E27FC236}">
                  <a16:creationId xmlns:a16="http://schemas.microsoft.com/office/drawing/2014/main" id="{5B9E119D-ABA0-1A6D-5E07-1483B46B3150}"/>
                </a:ext>
              </a:extLst>
            </p:cNvPr>
            <p:cNvSpPr/>
            <p:nvPr/>
          </p:nvSpPr>
          <p:spPr>
            <a:xfrm>
              <a:off x="1053525" y="2373082"/>
              <a:ext cx="3815079" cy="9525"/>
            </a:xfrm>
            <a:custGeom>
              <a:avLst/>
              <a:gdLst/>
              <a:ahLst/>
              <a:cxnLst/>
              <a:rect l="l" t="t" r="r" b="b"/>
              <a:pathLst>
                <a:path w="3815079" h="9525">
                  <a:moveTo>
                    <a:pt x="38149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814950" y="0"/>
                  </a:lnTo>
                  <a:lnTo>
                    <a:pt x="3814950" y="9525"/>
                  </a:lnTo>
                  <a:close/>
                </a:path>
              </a:pathLst>
            </a:custGeom>
            <a:solidFill>
              <a:srgbClr val="D4AF3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16">
            <a:extLst>
              <a:ext uri="{FF2B5EF4-FFF2-40B4-BE49-F238E27FC236}">
                <a16:creationId xmlns:a16="http://schemas.microsoft.com/office/drawing/2014/main" id="{A05FF4C0-87FD-4ADF-FE73-E7F2656B10A5}"/>
              </a:ext>
            </a:extLst>
          </p:cNvPr>
          <p:cNvSpPr txBox="1"/>
          <p:nvPr/>
        </p:nvSpPr>
        <p:spPr>
          <a:xfrm>
            <a:off x="820328" y="2610823"/>
            <a:ext cx="290258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Key</a:t>
            </a:r>
            <a:r>
              <a:rPr sz="1300" b="1" spc="-7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D600"/>
                </a:solidFill>
                <a:latin typeface="Arial"/>
                <a:cs typeface="Arial"/>
              </a:rPr>
              <a:t>Technical</a:t>
            </a:r>
            <a:r>
              <a:rPr sz="1300" b="1" spc="-7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FD600"/>
                </a:solidFill>
                <a:latin typeface="Arial"/>
                <a:cs typeface="Arial"/>
              </a:rPr>
              <a:t>Capabilities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60" name="object 19">
            <a:extLst>
              <a:ext uri="{FF2B5EF4-FFF2-40B4-BE49-F238E27FC236}">
                <a16:creationId xmlns:a16="http://schemas.microsoft.com/office/drawing/2014/main" id="{04996815-23D9-9A61-43CA-AAF4B4DD4CC8}"/>
              </a:ext>
            </a:extLst>
          </p:cNvPr>
          <p:cNvSpPr txBox="1"/>
          <p:nvPr/>
        </p:nvSpPr>
        <p:spPr>
          <a:xfrm>
            <a:off x="849898" y="2967932"/>
            <a:ext cx="3687445" cy="77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b="1" dirty="0">
                <a:solidFill>
                  <a:srgbClr val="FFFFFF"/>
                </a:solidFill>
              </a:rPr>
              <a:t>Joint Space Narrowing (JSN): Measures medial and lateral compartment gaps with sub-millimeter precision.</a:t>
            </a:r>
          </a:p>
        </p:txBody>
      </p:sp>
      <p:sp>
        <p:nvSpPr>
          <p:cNvPr id="61" name="object 20">
            <a:extLst>
              <a:ext uri="{FF2B5EF4-FFF2-40B4-BE49-F238E27FC236}">
                <a16:creationId xmlns:a16="http://schemas.microsoft.com/office/drawing/2014/main" id="{B46DACE5-B04C-0124-5098-2053FC41115D}"/>
              </a:ext>
            </a:extLst>
          </p:cNvPr>
          <p:cNvSpPr txBox="1"/>
          <p:nvPr/>
        </p:nvSpPr>
        <p:spPr>
          <a:xfrm>
            <a:off x="836564" y="3794831"/>
            <a:ext cx="3458845" cy="77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  <a:defRPr b="1">
                <a:solidFill>
                  <a:srgbClr val="FFFFFF"/>
                </a:solidFill>
              </a:defRPr>
            </a:lvl1pPr>
          </a:lstStyle>
          <a:p>
            <a:r>
              <a:rPr dirty="0"/>
              <a:t>Osteophyte Detection</a:t>
            </a:r>
            <a:r>
              <a:rPr b="0" dirty="0"/>
              <a:t>: Flags subtle marginal bone spur formations missed during fast visual reads.</a:t>
            </a:r>
          </a:p>
        </p:txBody>
      </p:sp>
      <p:sp>
        <p:nvSpPr>
          <p:cNvPr id="62" name="object 21">
            <a:extLst>
              <a:ext uri="{FF2B5EF4-FFF2-40B4-BE49-F238E27FC236}">
                <a16:creationId xmlns:a16="http://schemas.microsoft.com/office/drawing/2014/main" id="{3B54FBF1-FEDF-93EF-EC66-ABB794260B7D}"/>
              </a:ext>
            </a:extLst>
          </p:cNvPr>
          <p:cNvSpPr txBox="1"/>
          <p:nvPr/>
        </p:nvSpPr>
        <p:spPr>
          <a:xfrm>
            <a:off x="836564" y="4586199"/>
            <a:ext cx="3700779" cy="77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Grading</a:t>
            </a:r>
            <a:r>
              <a:rPr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Alignment:</a:t>
            </a:r>
            <a:r>
              <a:rPr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Outlines</a:t>
            </a:r>
            <a:r>
              <a:rPr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structural</a:t>
            </a:r>
            <a:r>
              <a:rPr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severity</a:t>
            </a:r>
            <a:r>
              <a:rPr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aligned</a:t>
            </a:r>
            <a:r>
              <a:rPr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E2DFE8"/>
                </a:solidFill>
                <a:latin typeface="Arial MT"/>
                <a:cs typeface="Arial MT"/>
              </a:rPr>
              <a:t>with Kellgren-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Lawrence</a:t>
            </a:r>
            <a:r>
              <a:rPr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(KL)</a:t>
            </a:r>
            <a:r>
              <a:rPr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E2DFE8"/>
                </a:solidFill>
                <a:latin typeface="Arial MT"/>
                <a:cs typeface="Arial MT"/>
              </a:rPr>
              <a:t>guidelines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.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63" name="object 6">
            <a:extLst>
              <a:ext uri="{FF2B5EF4-FFF2-40B4-BE49-F238E27FC236}">
                <a16:creationId xmlns:a16="http://schemas.microsoft.com/office/drawing/2014/main" id="{6040FF54-918D-7E28-C25A-56655195C319}"/>
              </a:ext>
            </a:extLst>
          </p:cNvPr>
          <p:cNvGrpSpPr/>
          <p:nvPr/>
        </p:nvGrpSpPr>
        <p:grpSpPr>
          <a:xfrm>
            <a:off x="5862416" y="2506594"/>
            <a:ext cx="4773022" cy="3665935"/>
            <a:chOff x="5562000" y="1910460"/>
            <a:chExt cx="4338320" cy="2290445"/>
          </a:xfrm>
        </p:grpSpPr>
        <p:sp>
          <p:nvSpPr>
            <p:cNvPr id="64" name="object 7">
              <a:extLst>
                <a:ext uri="{FF2B5EF4-FFF2-40B4-BE49-F238E27FC236}">
                  <a16:creationId xmlns:a16="http://schemas.microsoft.com/office/drawing/2014/main" id="{00F3725D-7A55-0242-EB9C-C4D0BD773DE9}"/>
                </a:ext>
              </a:extLst>
            </p:cNvPr>
            <p:cNvSpPr/>
            <p:nvPr/>
          </p:nvSpPr>
          <p:spPr>
            <a:xfrm>
              <a:off x="5562000" y="1910460"/>
              <a:ext cx="4338320" cy="2290445"/>
            </a:xfrm>
            <a:custGeom>
              <a:avLst/>
              <a:gdLst/>
              <a:ahLst/>
              <a:cxnLst/>
              <a:rect l="l" t="t" r="r" b="b"/>
              <a:pathLst>
                <a:path w="4338320" h="2290445">
                  <a:moveTo>
                    <a:pt x="4261800" y="2289816"/>
                  </a:moveTo>
                  <a:lnTo>
                    <a:pt x="76200" y="2289816"/>
                  </a:lnTo>
                  <a:lnTo>
                    <a:pt x="46612" y="2283804"/>
                  </a:lnTo>
                  <a:lnTo>
                    <a:pt x="22383" y="2267433"/>
                  </a:lnTo>
                  <a:lnTo>
                    <a:pt x="6012" y="2243203"/>
                  </a:lnTo>
                  <a:lnTo>
                    <a:pt x="0" y="2213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261800" y="0"/>
                  </a:lnTo>
                  <a:lnTo>
                    <a:pt x="4291387" y="6012"/>
                  </a:lnTo>
                  <a:lnTo>
                    <a:pt x="4315616" y="22383"/>
                  </a:lnTo>
                  <a:lnTo>
                    <a:pt x="4331987" y="46612"/>
                  </a:lnTo>
                  <a:lnTo>
                    <a:pt x="4338000" y="76200"/>
                  </a:lnTo>
                  <a:lnTo>
                    <a:pt x="4338000" y="2213616"/>
                  </a:lnTo>
                  <a:lnTo>
                    <a:pt x="4331987" y="2243203"/>
                  </a:lnTo>
                  <a:lnTo>
                    <a:pt x="4315616" y="2267433"/>
                  </a:lnTo>
                  <a:lnTo>
                    <a:pt x="4291387" y="2283804"/>
                  </a:lnTo>
                  <a:lnTo>
                    <a:pt x="4261800" y="2289816"/>
                  </a:lnTo>
                  <a:close/>
                </a:path>
              </a:pathLst>
            </a:custGeom>
            <a:solidFill>
              <a:srgbClr val="1D0F2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8">
              <a:extLst>
                <a:ext uri="{FF2B5EF4-FFF2-40B4-BE49-F238E27FC236}">
                  <a16:creationId xmlns:a16="http://schemas.microsoft.com/office/drawing/2014/main" id="{13393671-C31E-0618-B923-C8805B26386B}"/>
                </a:ext>
              </a:extLst>
            </p:cNvPr>
            <p:cNvSpPr/>
            <p:nvPr/>
          </p:nvSpPr>
          <p:spPr>
            <a:xfrm>
              <a:off x="5562000" y="1910461"/>
              <a:ext cx="4338320" cy="2290445"/>
            </a:xfrm>
            <a:custGeom>
              <a:avLst/>
              <a:gdLst/>
              <a:ahLst/>
              <a:cxnLst/>
              <a:rect l="l" t="t" r="r" b="b"/>
              <a:pathLst>
                <a:path w="4338320" h="2290445">
                  <a:moveTo>
                    <a:pt x="4261800" y="2289816"/>
                  </a:moveTo>
                  <a:lnTo>
                    <a:pt x="76200" y="2289816"/>
                  </a:lnTo>
                  <a:lnTo>
                    <a:pt x="46612" y="2283804"/>
                  </a:lnTo>
                  <a:lnTo>
                    <a:pt x="22383" y="2267433"/>
                  </a:lnTo>
                  <a:lnTo>
                    <a:pt x="6012" y="2243203"/>
                  </a:lnTo>
                  <a:lnTo>
                    <a:pt x="0" y="2213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261800" y="0"/>
                  </a:lnTo>
                  <a:lnTo>
                    <a:pt x="4291387" y="6012"/>
                  </a:lnTo>
                  <a:lnTo>
                    <a:pt x="4296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213616"/>
                  </a:lnTo>
                  <a:lnTo>
                    <a:pt x="14786" y="2239505"/>
                  </a:lnTo>
                  <a:lnTo>
                    <a:pt x="29110" y="2260706"/>
                  </a:lnTo>
                  <a:lnTo>
                    <a:pt x="50311" y="2275030"/>
                  </a:lnTo>
                  <a:lnTo>
                    <a:pt x="76200" y="2280291"/>
                  </a:lnTo>
                  <a:lnTo>
                    <a:pt x="4296585" y="2280291"/>
                  </a:lnTo>
                  <a:lnTo>
                    <a:pt x="4291387" y="2283804"/>
                  </a:lnTo>
                  <a:lnTo>
                    <a:pt x="4261800" y="2289816"/>
                  </a:lnTo>
                  <a:close/>
                </a:path>
                <a:path w="4338320" h="2290445">
                  <a:moveTo>
                    <a:pt x="4296585" y="2280291"/>
                  </a:moveTo>
                  <a:lnTo>
                    <a:pt x="4261800" y="2280291"/>
                  </a:lnTo>
                  <a:lnTo>
                    <a:pt x="4287688" y="2275030"/>
                  </a:lnTo>
                  <a:lnTo>
                    <a:pt x="4308889" y="2260706"/>
                  </a:lnTo>
                  <a:lnTo>
                    <a:pt x="4323214" y="2239505"/>
                  </a:lnTo>
                  <a:lnTo>
                    <a:pt x="4328475" y="2213616"/>
                  </a:lnTo>
                  <a:lnTo>
                    <a:pt x="4328475" y="76200"/>
                  </a:lnTo>
                  <a:lnTo>
                    <a:pt x="4323214" y="50311"/>
                  </a:lnTo>
                  <a:lnTo>
                    <a:pt x="4308889" y="29110"/>
                  </a:lnTo>
                  <a:lnTo>
                    <a:pt x="4287688" y="14786"/>
                  </a:lnTo>
                  <a:lnTo>
                    <a:pt x="4261800" y="9525"/>
                  </a:lnTo>
                  <a:lnTo>
                    <a:pt x="4296585" y="9525"/>
                  </a:lnTo>
                  <a:lnTo>
                    <a:pt x="4315616" y="22383"/>
                  </a:lnTo>
                  <a:lnTo>
                    <a:pt x="4331987" y="46612"/>
                  </a:lnTo>
                  <a:lnTo>
                    <a:pt x="4338000" y="76200"/>
                  </a:lnTo>
                  <a:lnTo>
                    <a:pt x="4338000" y="2213616"/>
                  </a:lnTo>
                  <a:lnTo>
                    <a:pt x="4331987" y="2243203"/>
                  </a:lnTo>
                  <a:lnTo>
                    <a:pt x="4315616" y="2267433"/>
                  </a:lnTo>
                  <a:lnTo>
                    <a:pt x="4296585" y="2280291"/>
                  </a:lnTo>
                  <a:close/>
                </a:path>
              </a:pathLst>
            </a:custGeom>
            <a:solidFill>
              <a:srgbClr val="D4AF3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9">
              <a:extLst>
                <a:ext uri="{FF2B5EF4-FFF2-40B4-BE49-F238E27FC236}">
                  <a16:creationId xmlns:a16="http://schemas.microsoft.com/office/drawing/2014/main" id="{E3207E19-1CEA-F5A3-AB36-AA51A6F4D4C4}"/>
                </a:ext>
              </a:extLst>
            </p:cNvPr>
            <p:cNvSpPr/>
            <p:nvPr/>
          </p:nvSpPr>
          <p:spPr>
            <a:xfrm>
              <a:off x="5823525" y="2373082"/>
              <a:ext cx="3815079" cy="9525"/>
            </a:xfrm>
            <a:custGeom>
              <a:avLst/>
              <a:gdLst/>
              <a:ahLst/>
              <a:cxnLst/>
              <a:rect l="l" t="t" r="r" b="b"/>
              <a:pathLst>
                <a:path w="3815079" h="9525">
                  <a:moveTo>
                    <a:pt x="38149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814950" y="0"/>
                  </a:lnTo>
                  <a:lnTo>
                    <a:pt x="3814950" y="9525"/>
                  </a:lnTo>
                  <a:close/>
                </a:path>
              </a:pathLst>
            </a:custGeom>
            <a:solidFill>
              <a:srgbClr val="D4AF3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17">
            <a:extLst>
              <a:ext uri="{FF2B5EF4-FFF2-40B4-BE49-F238E27FC236}">
                <a16:creationId xmlns:a16="http://schemas.microsoft.com/office/drawing/2014/main" id="{1BBEC873-2600-5ADD-BDDB-8312EA36117C}"/>
              </a:ext>
            </a:extLst>
          </p:cNvPr>
          <p:cNvSpPr txBox="1"/>
          <p:nvPr/>
        </p:nvSpPr>
        <p:spPr>
          <a:xfrm>
            <a:off x="6041081" y="2554601"/>
            <a:ext cx="262495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FD600"/>
                </a:solidFill>
                <a:latin typeface="Arial"/>
                <a:cs typeface="Arial"/>
              </a:rPr>
              <a:t>Explainability</a:t>
            </a:r>
            <a:r>
              <a:rPr b="1" spc="-3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D600"/>
                </a:solidFill>
                <a:latin typeface="Arial"/>
                <a:cs typeface="Arial"/>
              </a:rPr>
              <a:t>&amp;</a:t>
            </a:r>
            <a:r>
              <a:rPr b="1" spc="-3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FD600"/>
                </a:solidFill>
                <a:latin typeface="Arial"/>
                <a:cs typeface="Arial"/>
              </a:rPr>
              <a:t>Heatmaps</a:t>
            </a:r>
            <a:endParaRPr dirty="0">
              <a:latin typeface="Arial"/>
              <a:cs typeface="Arial"/>
            </a:endParaRPr>
          </a:p>
        </p:txBody>
      </p:sp>
      <p:sp>
        <p:nvSpPr>
          <p:cNvPr id="68" name="object 22">
            <a:extLst>
              <a:ext uri="{FF2B5EF4-FFF2-40B4-BE49-F238E27FC236}">
                <a16:creationId xmlns:a16="http://schemas.microsoft.com/office/drawing/2014/main" id="{83DFE645-CC32-B890-758C-31B5A1015404}"/>
              </a:ext>
            </a:extLst>
          </p:cNvPr>
          <p:cNvSpPr txBox="1"/>
          <p:nvPr/>
        </p:nvSpPr>
        <p:spPr>
          <a:xfrm>
            <a:off x="6137337" y="3089325"/>
            <a:ext cx="3604218" cy="77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Grad-CAM</a:t>
            </a:r>
            <a:r>
              <a:rPr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Visualizations:</a:t>
            </a:r>
            <a:r>
              <a:rPr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E2DFE8"/>
                </a:solidFill>
                <a:latin typeface="Arial MT"/>
                <a:cs typeface="Arial MT"/>
              </a:rPr>
              <a:t>Overlays</a:t>
            </a:r>
            <a:r>
              <a:rPr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visual</a:t>
            </a:r>
            <a:r>
              <a:rPr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E2DFE8"/>
                </a:solidFill>
                <a:latin typeface="Arial MT"/>
                <a:cs typeface="Arial MT"/>
              </a:rPr>
              <a:t>attention heatmaps</a:t>
            </a:r>
            <a:r>
              <a:rPr spc="-1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directly</a:t>
            </a:r>
            <a:r>
              <a:rPr spc="-1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on</a:t>
            </a:r>
            <a:r>
              <a:rPr spc="-10" dirty="0">
                <a:solidFill>
                  <a:srgbClr val="E2DFE8"/>
                </a:solidFill>
                <a:latin typeface="Arial MT"/>
                <a:cs typeface="Arial MT"/>
              </a:rPr>
              <a:t> radiographic</a:t>
            </a:r>
            <a:r>
              <a:rPr spc="-1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DICOM/JPEG</a:t>
            </a:r>
            <a:r>
              <a:rPr spc="-1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E2DFE8"/>
                </a:solidFill>
                <a:latin typeface="Arial MT"/>
                <a:cs typeface="Arial MT"/>
              </a:rPr>
              <a:t>files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69" name="object 23">
            <a:extLst>
              <a:ext uri="{FF2B5EF4-FFF2-40B4-BE49-F238E27FC236}">
                <a16:creationId xmlns:a16="http://schemas.microsoft.com/office/drawing/2014/main" id="{FFA8520E-9068-466F-805A-7B0AB14BED7F}"/>
              </a:ext>
            </a:extLst>
          </p:cNvPr>
          <p:cNvSpPr txBox="1"/>
          <p:nvPr/>
        </p:nvSpPr>
        <p:spPr>
          <a:xfrm>
            <a:off x="6116670" y="3880358"/>
            <a:ext cx="3712506" cy="5099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b="1" dirty="0">
                <a:solidFill>
                  <a:srgbClr val="FFFFFF"/>
                </a:solidFill>
              </a:rPr>
              <a:t>Clinician Verification: </a:t>
            </a:r>
            <a:r>
              <a:rPr dirty="0">
                <a:solidFill>
                  <a:srgbClr val="FFFFFF"/>
                </a:solidFill>
              </a:rPr>
              <a:t>Ensures the AI points directly to pathology, building trust and speed.</a:t>
            </a:r>
          </a:p>
        </p:txBody>
      </p:sp>
      <p:sp>
        <p:nvSpPr>
          <p:cNvPr id="70" name="object 24">
            <a:extLst>
              <a:ext uri="{FF2B5EF4-FFF2-40B4-BE49-F238E27FC236}">
                <a16:creationId xmlns:a16="http://schemas.microsoft.com/office/drawing/2014/main" id="{AFD13401-4ABF-8DBE-A9EF-844FF330FBEB}"/>
              </a:ext>
            </a:extLst>
          </p:cNvPr>
          <p:cNvSpPr txBox="1"/>
          <p:nvPr/>
        </p:nvSpPr>
        <p:spPr>
          <a:xfrm>
            <a:off x="6116670" y="4563929"/>
            <a:ext cx="3770492" cy="5099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Batch</a:t>
            </a:r>
            <a:r>
              <a:rPr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Processing:</a:t>
            </a:r>
            <a:r>
              <a:rPr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Rapidly</a:t>
            </a:r>
            <a:r>
              <a:rPr spc="-4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queues</a:t>
            </a:r>
            <a:r>
              <a:rPr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and</a:t>
            </a:r>
            <a:r>
              <a:rPr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processes</a:t>
            </a:r>
            <a:r>
              <a:rPr spc="-4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E2DFE8"/>
                </a:solidFill>
                <a:latin typeface="Arial MT"/>
                <a:cs typeface="Arial MT"/>
              </a:rPr>
              <a:t>high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volumes</a:t>
            </a:r>
            <a:r>
              <a:rPr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of</a:t>
            </a:r>
            <a:r>
              <a:rPr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primary</a:t>
            </a:r>
            <a:r>
              <a:rPr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E2DFE8"/>
                </a:solidFill>
                <a:latin typeface="Arial MT"/>
                <a:cs typeface="Arial MT"/>
              </a:rPr>
              <a:t>care</a:t>
            </a:r>
            <a:r>
              <a:rPr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E2DFE8"/>
                </a:solidFill>
                <a:latin typeface="Arial MT"/>
                <a:cs typeface="Arial MT"/>
              </a:rPr>
              <a:t>scans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.</a:t>
            </a:r>
            <a:endParaRPr sz="10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43A2630E-71CE-43D1-82F0-0C9E40A81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AA161C1-F492-A626-DFC8-B07A865409D1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C64EE8D2-3D3D-DF8D-C623-4401FBB89F3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C67956C4-FC37-ECE4-4D70-FDD4A727048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15" descr="image.png">
            <a:extLst>
              <a:ext uri="{FF2B5EF4-FFF2-40B4-BE49-F238E27FC236}">
                <a16:creationId xmlns:a16="http://schemas.microsoft.com/office/drawing/2014/main" id="{ABEC514D-A13F-D41B-83A9-4ABB774DF75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407" y="1700045"/>
            <a:ext cx="10777185" cy="4929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005950B2-D0F3-AA0D-5CB4-37AA52443A06}"/>
              </a:ext>
            </a:extLst>
          </p:cNvPr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APPROACH</a:t>
            </a:r>
            <a:endParaRPr dirty="0"/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72853DD6-2924-6F2F-EE26-CA5625E6ADF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>
            <a:extLst>
              <a:ext uri="{FF2B5EF4-FFF2-40B4-BE49-F238E27FC236}">
                <a16:creationId xmlns:a16="http://schemas.microsoft.com/office/drawing/2014/main" id="{5085EB26-62D6-4E31-4255-1DBACC7C323D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3132E-7E51-E271-10A8-4092D8344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9D5900-1120-C066-903D-D66EEDB24C86}"/>
              </a:ext>
            </a:extLst>
          </p:cNvPr>
          <p:cNvSpPr txBox="1"/>
          <p:nvPr/>
        </p:nvSpPr>
        <p:spPr>
          <a:xfrm>
            <a:off x="707407" y="1343025"/>
            <a:ext cx="62266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</a:rPr>
              <a:t>Component</a:t>
            </a:r>
            <a:r>
              <a:rPr lang="en-IN" sz="2200" spc="-65" dirty="0">
                <a:solidFill>
                  <a:schemeClr val="bg1"/>
                </a:solidFill>
              </a:rPr>
              <a:t> </a:t>
            </a:r>
            <a:r>
              <a:rPr lang="en-IN" sz="2200" dirty="0">
                <a:solidFill>
                  <a:schemeClr val="bg1"/>
                </a:solidFill>
              </a:rPr>
              <a:t>2:</a:t>
            </a:r>
            <a:r>
              <a:rPr lang="en-IN" sz="2200" spc="-60" dirty="0">
                <a:solidFill>
                  <a:schemeClr val="bg1"/>
                </a:solidFill>
              </a:rPr>
              <a:t> </a:t>
            </a:r>
            <a:r>
              <a:rPr lang="en-IN" sz="2200" dirty="0">
                <a:solidFill>
                  <a:schemeClr val="bg1"/>
                </a:solidFill>
              </a:rPr>
              <a:t>Risk</a:t>
            </a:r>
            <a:r>
              <a:rPr lang="en-IN" sz="2200" spc="-65" dirty="0">
                <a:solidFill>
                  <a:schemeClr val="bg1"/>
                </a:solidFill>
              </a:rPr>
              <a:t> </a:t>
            </a:r>
            <a:r>
              <a:rPr lang="en-IN" sz="2200" dirty="0">
                <a:solidFill>
                  <a:schemeClr val="bg1"/>
                </a:solidFill>
              </a:rPr>
              <a:t>Assessment</a:t>
            </a:r>
            <a:r>
              <a:rPr lang="en-IN" sz="2200" spc="-60" dirty="0">
                <a:solidFill>
                  <a:schemeClr val="bg1"/>
                </a:solidFill>
              </a:rPr>
              <a:t> </a:t>
            </a:r>
            <a:r>
              <a:rPr lang="en-IN" sz="2200" dirty="0">
                <a:solidFill>
                  <a:schemeClr val="bg1"/>
                </a:solidFill>
              </a:rPr>
              <a:t>ML</a:t>
            </a:r>
            <a:r>
              <a:rPr lang="en-IN" sz="2200" spc="-60" dirty="0">
                <a:solidFill>
                  <a:schemeClr val="bg1"/>
                </a:solidFill>
              </a:rPr>
              <a:t> </a:t>
            </a:r>
            <a:r>
              <a:rPr lang="en-IN" sz="2200" spc="-10" dirty="0">
                <a:solidFill>
                  <a:schemeClr val="bg1"/>
                </a:solidFill>
              </a:rPr>
              <a:t>Model</a:t>
            </a:r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D1AE03A7-9EC8-AAC7-0552-FC985CD5F3A3}"/>
              </a:ext>
            </a:extLst>
          </p:cNvPr>
          <p:cNvGrpSpPr/>
          <p:nvPr/>
        </p:nvGrpSpPr>
        <p:grpSpPr>
          <a:xfrm>
            <a:off x="805543" y="2481943"/>
            <a:ext cx="3483427" cy="2873827"/>
            <a:chOff x="792000" y="1910460"/>
            <a:chExt cx="2856230" cy="2181860"/>
          </a:xfrm>
        </p:grpSpPr>
        <p:sp>
          <p:nvSpPr>
            <p:cNvPr id="9" name="object 3">
              <a:extLst>
                <a:ext uri="{FF2B5EF4-FFF2-40B4-BE49-F238E27FC236}">
                  <a16:creationId xmlns:a16="http://schemas.microsoft.com/office/drawing/2014/main" id="{27293C79-A2C5-A354-07F2-8F65379DA6A3}"/>
                </a:ext>
              </a:extLst>
            </p:cNvPr>
            <p:cNvSpPr/>
            <p:nvPr/>
          </p:nvSpPr>
          <p:spPr>
            <a:xfrm>
              <a:off x="792000" y="1910460"/>
              <a:ext cx="2856230" cy="2181860"/>
            </a:xfrm>
            <a:custGeom>
              <a:avLst/>
              <a:gdLst/>
              <a:ahLst/>
              <a:cxnLst/>
              <a:rect l="l" t="t" r="r" b="b"/>
              <a:pathLst>
                <a:path w="2856229" h="2181860">
                  <a:moveTo>
                    <a:pt x="2779800" y="2181816"/>
                  </a:moveTo>
                  <a:lnTo>
                    <a:pt x="76200" y="2181816"/>
                  </a:lnTo>
                  <a:lnTo>
                    <a:pt x="46612" y="2175804"/>
                  </a:lnTo>
                  <a:lnTo>
                    <a:pt x="22383" y="2159433"/>
                  </a:lnTo>
                  <a:lnTo>
                    <a:pt x="6012" y="2135203"/>
                  </a:lnTo>
                  <a:lnTo>
                    <a:pt x="0" y="2105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779800" y="0"/>
                  </a:lnTo>
                  <a:lnTo>
                    <a:pt x="2809387" y="6012"/>
                  </a:lnTo>
                  <a:lnTo>
                    <a:pt x="2833616" y="22383"/>
                  </a:lnTo>
                  <a:lnTo>
                    <a:pt x="2849987" y="46612"/>
                  </a:lnTo>
                  <a:lnTo>
                    <a:pt x="2856000" y="76200"/>
                  </a:lnTo>
                  <a:lnTo>
                    <a:pt x="2856000" y="2105616"/>
                  </a:lnTo>
                  <a:lnTo>
                    <a:pt x="2849987" y="2135203"/>
                  </a:lnTo>
                  <a:lnTo>
                    <a:pt x="2833616" y="2159433"/>
                  </a:lnTo>
                  <a:lnTo>
                    <a:pt x="2809387" y="2175804"/>
                  </a:lnTo>
                  <a:lnTo>
                    <a:pt x="2779800" y="2181816"/>
                  </a:lnTo>
                  <a:close/>
                </a:path>
              </a:pathLst>
            </a:custGeom>
            <a:solidFill>
              <a:srgbClr val="1D0F2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A273E80A-87D4-86CC-5481-0D497D8504AC}"/>
                </a:ext>
              </a:extLst>
            </p:cNvPr>
            <p:cNvSpPr/>
            <p:nvPr/>
          </p:nvSpPr>
          <p:spPr>
            <a:xfrm>
              <a:off x="792000" y="1910461"/>
              <a:ext cx="2856230" cy="2181860"/>
            </a:xfrm>
            <a:custGeom>
              <a:avLst/>
              <a:gdLst/>
              <a:ahLst/>
              <a:cxnLst/>
              <a:rect l="l" t="t" r="r" b="b"/>
              <a:pathLst>
                <a:path w="2856229" h="2181860">
                  <a:moveTo>
                    <a:pt x="2779800" y="2181816"/>
                  </a:moveTo>
                  <a:lnTo>
                    <a:pt x="76200" y="2181816"/>
                  </a:lnTo>
                  <a:lnTo>
                    <a:pt x="46612" y="2175804"/>
                  </a:lnTo>
                  <a:lnTo>
                    <a:pt x="22383" y="2159433"/>
                  </a:lnTo>
                  <a:lnTo>
                    <a:pt x="6012" y="2135203"/>
                  </a:lnTo>
                  <a:lnTo>
                    <a:pt x="0" y="2105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779800" y="0"/>
                  </a:lnTo>
                  <a:lnTo>
                    <a:pt x="2809387" y="6012"/>
                  </a:lnTo>
                  <a:lnTo>
                    <a:pt x="2814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105616"/>
                  </a:lnTo>
                  <a:lnTo>
                    <a:pt x="14786" y="2131505"/>
                  </a:lnTo>
                  <a:lnTo>
                    <a:pt x="29110" y="2152706"/>
                  </a:lnTo>
                  <a:lnTo>
                    <a:pt x="50311" y="2167030"/>
                  </a:lnTo>
                  <a:lnTo>
                    <a:pt x="76200" y="2172291"/>
                  </a:lnTo>
                  <a:lnTo>
                    <a:pt x="2814585" y="2172291"/>
                  </a:lnTo>
                  <a:lnTo>
                    <a:pt x="2809387" y="2175804"/>
                  </a:lnTo>
                  <a:lnTo>
                    <a:pt x="2779800" y="2181816"/>
                  </a:lnTo>
                  <a:close/>
                </a:path>
                <a:path w="2856229" h="2181860">
                  <a:moveTo>
                    <a:pt x="2814585" y="2172291"/>
                  </a:moveTo>
                  <a:lnTo>
                    <a:pt x="2779800" y="2172291"/>
                  </a:lnTo>
                  <a:lnTo>
                    <a:pt x="2805688" y="2167030"/>
                  </a:lnTo>
                  <a:lnTo>
                    <a:pt x="2826889" y="2152706"/>
                  </a:lnTo>
                  <a:lnTo>
                    <a:pt x="2841214" y="2131505"/>
                  </a:lnTo>
                  <a:lnTo>
                    <a:pt x="2846475" y="2105616"/>
                  </a:lnTo>
                  <a:lnTo>
                    <a:pt x="2846475" y="76200"/>
                  </a:lnTo>
                  <a:lnTo>
                    <a:pt x="2841214" y="50311"/>
                  </a:lnTo>
                  <a:lnTo>
                    <a:pt x="2826889" y="29110"/>
                  </a:lnTo>
                  <a:lnTo>
                    <a:pt x="2805688" y="14786"/>
                  </a:lnTo>
                  <a:lnTo>
                    <a:pt x="2779800" y="9525"/>
                  </a:lnTo>
                  <a:lnTo>
                    <a:pt x="2814585" y="9525"/>
                  </a:lnTo>
                  <a:lnTo>
                    <a:pt x="2833616" y="22383"/>
                  </a:lnTo>
                  <a:lnTo>
                    <a:pt x="2849987" y="46612"/>
                  </a:lnTo>
                  <a:lnTo>
                    <a:pt x="2856000" y="76200"/>
                  </a:lnTo>
                  <a:lnTo>
                    <a:pt x="2856000" y="2105616"/>
                  </a:lnTo>
                  <a:lnTo>
                    <a:pt x="2849987" y="2135203"/>
                  </a:lnTo>
                  <a:lnTo>
                    <a:pt x="2833616" y="2159433"/>
                  </a:lnTo>
                  <a:lnTo>
                    <a:pt x="2814585" y="2172291"/>
                  </a:lnTo>
                  <a:close/>
                </a:path>
              </a:pathLst>
            </a:custGeom>
            <a:solidFill>
              <a:srgbClr val="D4AF3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1AED3B1F-CE30-59D2-3950-26C3AAF42C9A}"/>
                </a:ext>
              </a:extLst>
            </p:cNvPr>
            <p:cNvSpPr/>
            <p:nvPr/>
          </p:nvSpPr>
          <p:spPr>
            <a:xfrm>
              <a:off x="1053525" y="2373082"/>
              <a:ext cx="2332990" cy="9525"/>
            </a:xfrm>
            <a:custGeom>
              <a:avLst/>
              <a:gdLst/>
              <a:ahLst/>
              <a:cxnLst/>
              <a:rect l="l" t="t" r="r" b="b"/>
              <a:pathLst>
                <a:path w="2332990" h="9525">
                  <a:moveTo>
                    <a:pt x="23329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332950" y="0"/>
                  </a:lnTo>
                  <a:lnTo>
                    <a:pt x="2332950" y="9525"/>
                  </a:lnTo>
                  <a:close/>
                </a:path>
              </a:pathLst>
            </a:custGeom>
            <a:solidFill>
              <a:srgbClr val="D4AF3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20">
            <a:extLst>
              <a:ext uri="{FF2B5EF4-FFF2-40B4-BE49-F238E27FC236}">
                <a16:creationId xmlns:a16="http://schemas.microsoft.com/office/drawing/2014/main" id="{35C90270-90E8-1D77-DF50-1E1FD6DA0190}"/>
              </a:ext>
            </a:extLst>
          </p:cNvPr>
          <p:cNvSpPr txBox="1"/>
          <p:nvPr/>
        </p:nvSpPr>
        <p:spPr>
          <a:xfrm>
            <a:off x="1130428" y="2889705"/>
            <a:ext cx="211267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D600"/>
                </a:solidFill>
                <a:latin typeface="Arial"/>
                <a:cs typeface="Arial"/>
              </a:rPr>
              <a:t>Biomechanical</a:t>
            </a:r>
            <a:r>
              <a:rPr sz="1300" b="1" spc="3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D600"/>
                </a:solidFill>
                <a:latin typeface="Arial"/>
                <a:cs typeface="Arial"/>
              </a:rPr>
              <a:t>Inputs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3" name="object 24">
            <a:extLst>
              <a:ext uri="{FF2B5EF4-FFF2-40B4-BE49-F238E27FC236}">
                <a16:creationId xmlns:a16="http://schemas.microsoft.com/office/drawing/2014/main" id="{2A9A6C25-B9E6-7601-B74E-D5BA48C9C26C}"/>
              </a:ext>
            </a:extLst>
          </p:cNvPr>
          <p:cNvSpPr txBox="1"/>
          <p:nvPr/>
        </p:nvSpPr>
        <p:spPr>
          <a:xfrm>
            <a:off x="1193639" y="3232348"/>
            <a:ext cx="2708214" cy="385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BMI</a:t>
            </a:r>
            <a:r>
              <a:rPr sz="10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0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Load</a:t>
            </a:r>
            <a:r>
              <a:rPr sz="10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Factor:</a:t>
            </a:r>
            <a:r>
              <a:rPr sz="10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Evaluates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joint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stress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indices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based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on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weight metrics.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14" name="object 25">
            <a:extLst>
              <a:ext uri="{FF2B5EF4-FFF2-40B4-BE49-F238E27FC236}">
                <a16:creationId xmlns:a16="http://schemas.microsoft.com/office/drawing/2014/main" id="{10634358-131A-8878-D649-64F2C9E0BB75}"/>
              </a:ext>
            </a:extLst>
          </p:cNvPr>
          <p:cNvSpPr txBox="1"/>
          <p:nvPr/>
        </p:nvSpPr>
        <p:spPr>
          <a:xfrm>
            <a:off x="1194928" y="3900896"/>
            <a:ext cx="2684981" cy="385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Age</a:t>
            </a:r>
            <a:r>
              <a:rPr sz="10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0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Biological</a:t>
            </a:r>
            <a:r>
              <a:rPr sz="10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Sex:</a:t>
            </a:r>
            <a:r>
              <a:rPr sz="10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Adjusts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risk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curves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based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on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demographic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incidence</a:t>
            </a:r>
            <a:r>
              <a:rPr sz="1050" spc="-4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baselines.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15" name="object 6">
            <a:extLst>
              <a:ext uri="{FF2B5EF4-FFF2-40B4-BE49-F238E27FC236}">
                <a16:creationId xmlns:a16="http://schemas.microsoft.com/office/drawing/2014/main" id="{B941B2AF-BBBE-F5F3-A422-E997D866EAD2}"/>
              </a:ext>
            </a:extLst>
          </p:cNvPr>
          <p:cNvGrpSpPr/>
          <p:nvPr/>
        </p:nvGrpSpPr>
        <p:grpSpPr>
          <a:xfrm>
            <a:off x="4364773" y="2471886"/>
            <a:ext cx="3393979" cy="2883884"/>
            <a:chOff x="3828000" y="1910460"/>
            <a:chExt cx="2856230" cy="2181860"/>
          </a:xfrm>
        </p:grpSpPr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601D5FDD-EC85-B78D-3441-F4A067FB0ACE}"/>
                </a:ext>
              </a:extLst>
            </p:cNvPr>
            <p:cNvSpPr/>
            <p:nvPr/>
          </p:nvSpPr>
          <p:spPr>
            <a:xfrm>
              <a:off x="3828000" y="1910460"/>
              <a:ext cx="2856230" cy="2181860"/>
            </a:xfrm>
            <a:custGeom>
              <a:avLst/>
              <a:gdLst/>
              <a:ahLst/>
              <a:cxnLst/>
              <a:rect l="l" t="t" r="r" b="b"/>
              <a:pathLst>
                <a:path w="2856229" h="2181860">
                  <a:moveTo>
                    <a:pt x="2779800" y="2181816"/>
                  </a:moveTo>
                  <a:lnTo>
                    <a:pt x="76200" y="2181816"/>
                  </a:lnTo>
                  <a:lnTo>
                    <a:pt x="46612" y="2175804"/>
                  </a:lnTo>
                  <a:lnTo>
                    <a:pt x="22383" y="2159433"/>
                  </a:lnTo>
                  <a:lnTo>
                    <a:pt x="6012" y="2135203"/>
                  </a:lnTo>
                  <a:lnTo>
                    <a:pt x="0" y="2105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779800" y="0"/>
                  </a:lnTo>
                  <a:lnTo>
                    <a:pt x="2809387" y="6012"/>
                  </a:lnTo>
                  <a:lnTo>
                    <a:pt x="2833616" y="22383"/>
                  </a:lnTo>
                  <a:lnTo>
                    <a:pt x="2849987" y="46612"/>
                  </a:lnTo>
                  <a:lnTo>
                    <a:pt x="2856000" y="76200"/>
                  </a:lnTo>
                  <a:lnTo>
                    <a:pt x="2856000" y="2105616"/>
                  </a:lnTo>
                  <a:lnTo>
                    <a:pt x="2849987" y="2135203"/>
                  </a:lnTo>
                  <a:lnTo>
                    <a:pt x="2833616" y="2159433"/>
                  </a:lnTo>
                  <a:lnTo>
                    <a:pt x="2809387" y="2175804"/>
                  </a:lnTo>
                  <a:lnTo>
                    <a:pt x="2779800" y="2181816"/>
                  </a:lnTo>
                  <a:close/>
                </a:path>
              </a:pathLst>
            </a:custGeom>
            <a:solidFill>
              <a:srgbClr val="1D0F2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1B8178BD-D36D-E151-ACF1-F4896276337B}"/>
                </a:ext>
              </a:extLst>
            </p:cNvPr>
            <p:cNvSpPr/>
            <p:nvPr/>
          </p:nvSpPr>
          <p:spPr>
            <a:xfrm>
              <a:off x="3828000" y="1910461"/>
              <a:ext cx="2856230" cy="2181860"/>
            </a:xfrm>
            <a:custGeom>
              <a:avLst/>
              <a:gdLst/>
              <a:ahLst/>
              <a:cxnLst/>
              <a:rect l="l" t="t" r="r" b="b"/>
              <a:pathLst>
                <a:path w="2856229" h="2181860">
                  <a:moveTo>
                    <a:pt x="2779800" y="2181816"/>
                  </a:moveTo>
                  <a:lnTo>
                    <a:pt x="76200" y="2181816"/>
                  </a:lnTo>
                  <a:lnTo>
                    <a:pt x="46612" y="2175804"/>
                  </a:lnTo>
                  <a:lnTo>
                    <a:pt x="22383" y="2159433"/>
                  </a:lnTo>
                  <a:lnTo>
                    <a:pt x="6012" y="2135203"/>
                  </a:lnTo>
                  <a:lnTo>
                    <a:pt x="0" y="21056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779800" y="0"/>
                  </a:lnTo>
                  <a:lnTo>
                    <a:pt x="2809387" y="6012"/>
                  </a:lnTo>
                  <a:lnTo>
                    <a:pt x="2814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105616"/>
                  </a:lnTo>
                  <a:lnTo>
                    <a:pt x="14786" y="2131505"/>
                  </a:lnTo>
                  <a:lnTo>
                    <a:pt x="29110" y="2152706"/>
                  </a:lnTo>
                  <a:lnTo>
                    <a:pt x="50311" y="2167030"/>
                  </a:lnTo>
                  <a:lnTo>
                    <a:pt x="76200" y="2172291"/>
                  </a:lnTo>
                  <a:lnTo>
                    <a:pt x="2814585" y="2172291"/>
                  </a:lnTo>
                  <a:lnTo>
                    <a:pt x="2809387" y="2175804"/>
                  </a:lnTo>
                  <a:lnTo>
                    <a:pt x="2779800" y="2181816"/>
                  </a:lnTo>
                  <a:close/>
                </a:path>
                <a:path w="2856229" h="2181860">
                  <a:moveTo>
                    <a:pt x="2814585" y="2172291"/>
                  </a:moveTo>
                  <a:lnTo>
                    <a:pt x="2779800" y="2172291"/>
                  </a:lnTo>
                  <a:lnTo>
                    <a:pt x="2805688" y="2167030"/>
                  </a:lnTo>
                  <a:lnTo>
                    <a:pt x="2826889" y="2152706"/>
                  </a:lnTo>
                  <a:lnTo>
                    <a:pt x="2841214" y="2131505"/>
                  </a:lnTo>
                  <a:lnTo>
                    <a:pt x="2846475" y="2105616"/>
                  </a:lnTo>
                  <a:lnTo>
                    <a:pt x="2846475" y="76200"/>
                  </a:lnTo>
                  <a:lnTo>
                    <a:pt x="2841214" y="50311"/>
                  </a:lnTo>
                  <a:lnTo>
                    <a:pt x="2826889" y="29110"/>
                  </a:lnTo>
                  <a:lnTo>
                    <a:pt x="2805688" y="14786"/>
                  </a:lnTo>
                  <a:lnTo>
                    <a:pt x="2779800" y="9525"/>
                  </a:lnTo>
                  <a:lnTo>
                    <a:pt x="2814585" y="9525"/>
                  </a:lnTo>
                  <a:lnTo>
                    <a:pt x="2833616" y="22383"/>
                  </a:lnTo>
                  <a:lnTo>
                    <a:pt x="2849987" y="46612"/>
                  </a:lnTo>
                  <a:lnTo>
                    <a:pt x="2856000" y="76200"/>
                  </a:lnTo>
                  <a:lnTo>
                    <a:pt x="2856000" y="2105616"/>
                  </a:lnTo>
                  <a:lnTo>
                    <a:pt x="2849987" y="2135203"/>
                  </a:lnTo>
                  <a:lnTo>
                    <a:pt x="2833616" y="2159433"/>
                  </a:lnTo>
                  <a:lnTo>
                    <a:pt x="2814585" y="2172291"/>
                  </a:lnTo>
                  <a:close/>
                </a:path>
              </a:pathLst>
            </a:custGeom>
            <a:solidFill>
              <a:srgbClr val="D4AF3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E078DE03-8320-FC23-1280-4FD3F337FD03}"/>
                </a:ext>
              </a:extLst>
            </p:cNvPr>
            <p:cNvSpPr/>
            <p:nvPr/>
          </p:nvSpPr>
          <p:spPr>
            <a:xfrm>
              <a:off x="4089525" y="2373082"/>
              <a:ext cx="2332990" cy="9525"/>
            </a:xfrm>
            <a:custGeom>
              <a:avLst/>
              <a:gdLst/>
              <a:ahLst/>
              <a:cxnLst/>
              <a:rect l="l" t="t" r="r" b="b"/>
              <a:pathLst>
                <a:path w="2332990" h="9525">
                  <a:moveTo>
                    <a:pt x="23329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332950" y="0"/>
                  </a:lnTo>
                  <a:lnTo>
                    <a:pt x="2332950" y="9525"/>
                  </a:lnTo>
                  <a:close/>
                </a:path>
              </a:pathLst>
            </a:custGeom>
            <a:solidFill>
              <a:srgbClr val="D4AF3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21">
            <a:extLst>
              <a:ext uri="{FF2B5EF4-FFF2-40B4-BE49-F238E27FC236}">
                <a16:creationId xmlns:a16="http://schemas.microsoft.com/office/drawing/2014/main" id="{823D80D3-703E-D517-60EF-ADD84E2836FA}"/>
              </a:ext>
            </a:extLst>
          </p:cNvPr>
          <p:cNvSpPr txBox="1"/>
          <p:nvPr/>
        </p:nvSpPr>
        <p:spPr>
          <a:xfrm>
            <a:off x="4667901" y="2755866"/>
            <a:ext cx="156041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Lifestyle</a:t>
            </a:r>
            <a:r>
              <a:rPr sz="1300" b="1" spc="-4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&amp;</a:t>
            </a:r>
            <a:r>
              <a:rPr sz="1300" b="1" spc="-4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D600"/>
                </a:solidFill>
                <a:latin typeface="Arial"/>
                <a:cs typeface="Arial"/>
              </a:rPr>
              <a:t>Work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20" name="object 26">
            <a:extLst>
              <a:ext uri="{FF2B5EF4-FFF2-40B4-BE49-F238E27FC236}">
                <a16:creationId xmlns:a16="http://schemas.microsoft.com/office/drawing/2014/main" id="{EB99139C-6D99-F09E-EF17-DF126A5D16FB}"/>
              </a:ext>
            </a:extLst>
          </p:cNvPr>
          <p:cNvSpPr txBox="1"/>
          <p:nvPr/>
        </p:nvSpPr>
        <p:spPr>
          <a:xfrm>
            <a:off x="4746909" y="3100516"/>
            <a:ext cx="2549635" cy="581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Occupational</a:t>
            </a:r>
            <a:r>
              <a:rPr sz="10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Strain:</a:t>
            </a:r>
            <a:r>
              <a:rPr sz="10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Factors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in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repetitive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kneeling,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heavy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lifting,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or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static</a:t>
            </a:r>
            <a:r>
              <a:rPr sz="1050" spc="-4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standing.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21" name="object 27">
            <a:extLst>
              <a:ext uri="{FF2B5EF4-FFF2-40B4-BE49-F238E27FC236}">
                <a16:creationId xmlns:a16="http://schemas.microsoft.com/office/drawing/2014/main" id="{617DEC35-E002-5D20-0A03-AA7FA50B663B}"/>
              </a:ext>
            </a:extLst>
          </p:cNvPr>
          <p:cNvSpPr txBox="1"/>
          <p:nvPr/>
        </p:nvSpPr>
        <p:spPr>
          <a:xfrm>
            <a:off x="4748357" y="3788588"/>
            <a:ext cx="2466632" cy="581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Physical</a:t>
            </a:r>
            <a:r>
              <a:rPr sz="105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Activity:</a:t>
            </a:r>
            <a:r>
              <a:rPr sz="105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Differentiates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between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sedentary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risk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and</a:t>
            </a:r>
            <a:r>
              <a:rPr sz="1050" spc="-3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high-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impact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wear.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22" name="object 10">
            <a:extLst>
              <a:ext uri="{FF2B5EF4-FFF2-40B4-BE49-F238E27FC236}">
                <a16:creationId xmlns:a16="http://schemas.microsoft.com/office/drawing/2014/main" id="{3640471D-9D2E-AAB7-E47D-4A79AA67F389}"/>
              </a:ext>
            </a:extLst>
          </p:cNvPr>
          <p:cNvGrpSpPr/>
          <p:nvPr/>
        </p:nvGrpSpPr>
        <p:grpSpPr>
          <a:xfrm>
            <a:off x="7829899" y="2481943"/>
            <a:ext cx="3232315" cy="2873827"/>
            <a:chOff x="6864000" y="1910460"/>
            <a:chExt cx="3036570" cy="1988820"/>
          </a:xfrm>
        </p:grpSpPr>
        <p:sp>
          <p:nvSpPr>
            <p:cNvPr id="23" name="object 11">
              <a:extLst>
                <a:ext uri="{FF2B5EF4-FFF2-40B4-BE49-F238E27FC236}">
                  <a16:creationId xmlns:a16="http://schemas.microsoft.com/office/drawing/2014/main" id="{31B46894-715A-DA14-9DE5-EF64189C5985}"/>
                </a:ext>
              </a:extLst>
            </p:cNvPr>
            <p:cNvSpPr/>
            <p:nvPr/>
          </p:nvSpPr>
          <p:spPr>
            <a:xfrm>
              <a:off x="6864000" y="1910460"/>
              <a:ext cx="3036570" cy="1988820"/>
            </a:xfrm>
            <a:custGeom>
              <a:avLst/>
              <a:gdLst/>
              <a:ahLst/>
              <a:cxnLst/>
              <a:rect l="l" t="t" r="r" b="b"/>
              <a:pathLst>
                <a:path w="3036570" h="1988820">
                  <a:moveTo>
                    <a:pt x="2959800" y="1988459"/>
                  </a:moveTo>
                  <a:lnTo>
                    <a:pt x="76200" y="1988459"/>
                  </a:lnTo>
                  <a:lnTo>
                    <a:pt x="46612" y="1982446"/>
                  </a:lnTo>
                  <a:lnTo>
                    <a:pt x="22383" y="1966075"/>
                  </a:lnTo>
                  <a:lnTo>
                    <a:pt x="6012" y="1941846"/>
                  </a:lnTo>
                  <a:lnTo>
                    <a:pt x="0" y="1912259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9800" y="0"/>
                  </a:lnTo>
                  <a:lnTo>
                    <a:pt x="2989387" y="6012"/>
                  </a:lnTo>
                  <a:lnTo>
                    <a:pt x="3013616" y="22383"/>
                  </a:lnTo>
                  <a:lnTo>
                    <a:pt x="3029987" y="46612"/>
                  </a:lnTo>
                  <a:lnTo>
                    <a:pt x="3036000" y="76200"/>
                  </a:lnTo>
                  <a:lnTo>
                    <a:pt x="3036000" y="1912259"/>
                  </a:lnTo>
                  <a:lnTo>
                    <a:pt x="3029987" y="1941846"/>
                  </a:lnTo>
                  <a:lnTo>
                    <a:pt x="3013616" y="1966075"/>
                  </a:lnTo>
                  <a:lnTo>
                    <a:pt x="2989387" y="1982446"/>
                  </a:lnTo>
                  <a:lnTo>
                    <a:pt x="2959800" y="1988459"/>
                  </a:lnTo>
                  <a:close/>
                </a:path>
              </a:pathLst>
            </a:custGeom>
            <a:solidFill>
              <a:srgbClr val="1D0F2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2">
              <a:extLst>
                <a:ext uri="{FF2B5EF4-FFF2-40B4-BE49-F238E27FC236}">
                  <a16:creationId xmlns:a16="http://schemas.microsoft.com/office/drawing/2014/main" id="{CA967E42-0DDF-6188-5E1D-06B65E060C98}"/>
                </a:ext>
              </a:extLst>
            </p:cNvPr>
            <p:cNvSpPr/>
            <p:nvPr/>
          </p:nvSpPr>
          <p:spPr>
            <a:xfrm>
              <a:off x="6864000" y="1910461"/>
              <a:ext cx="3036570" cy="1988820"/>
            </a:xfrm>
            <a:custGeom>
              <a:avLst/>
              <a:gdLst/>
              <a:ahLst/>
              <a:cxnLst/>
              <a:rect l="l" t="t" r="r" b="b"/>
              <a:pathLst>
                <a:path w="3036570" h="1988820">
                  <a:moveTo>
                    <a:pt x="2959800" y="1988459"/>
                  </a:moveTo>
                  <a:lnTo>
                    <a:pt x="76200" y="1988459"/>
                  </a:lnTo>
                  <a:lnTo>
                    <a:pt x="46612" y="1982446"/>
                  </a:lnTo>
                  <a:lnTo>
                    <a:pt x="22383" y="1966075"/>
                  </a:lnTo>
                  <a:lnTo>
                    <a:pt x="6012" y="1941846"/>
                  </a:lnTo>
                  <a:lnTo>
                    <a:pt x="0" y="1912259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9800" y="0"/>
                  </a:lnTo>
                  <a:lnTo>
                    <a:pt x="2989387" y="6012"/>
                  </a:lnTo>
                  <a:lnTo>
                    <a:pt x="2994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912259"/>
                  </a:lnTo>
                  <a:lnTo>
                    <a:pt x="14786" y="1938148"/>
                  </a:lnTo>
                  <a:lnTo>
                    <a:pt x="29110" y="1959348"/>
                  </a:lnTo>
                  <a:lnTo>
                    <a:pt x="50311" y="1973673"/>
                  </a:lnTo>
                  <a:lnTo>
                    <a:pt x="76200" y="1978934"/>
                  </a:lnTo>
                  <a:lnTo>
                    <a:pt x="2994585" y="1978934"/>
                  </a:lnTo>
                  <a:lnTo>
                    <a:pt x="2989387" y="1982446"/>
                  </a:lnTo>
                  <a:lnTo>
                    <a:pt x="2959800" y="1988459"/>
                  </a:lnTo>
                  <a:close/>
                </a:path>
                <a:path w="3036570" h="1988820">
                  <a:moveTo>
                    <a:pt x="2994585" y="1978934"/>
                  </a:moveTo>
                  <a:lnTo>
                    <a:pt x="2959800" y="1978934"/>
                  </a:lnTo>
                  <a:lnTo>
                    <a:pt x="2985688" y="1973673"/>
                  </a:lnTo>
                  <a:lnTo>
                    <a:pt x="3006889" y="1959348"/>
                  </a:lnTo>
                  <a:lnTo>
                    <a:pt x="3021214" y="1938148"/>
                  </a:lnTo>
                  <a:lnTo>
                    <a:pt x="3026475" y="1912259"/>
                  </a:lnTo>
                  <a:lnTo>
                    <a:pt x="3026475" y="76200"/>
                  </a:lnTo>
                  <a:lnTo>
                    <a:pt x="3021214" y="50311"/>
                  </a:lnTo>
                  <a:lnTo>
                    <a:pt x="3006889" y="29110"/>
                  </a:lnTo>
                  <a:lnTo>
                    <a:pt x="2985688" y="14786"/>
                  </a:lnTo>
                  <a:lnTo>
                    <a:pt x="2959800" y="9525"/>
                  </a:lnTo>
                  <a:lnTo>
                    <a:pt x="2994585" y="9525"/>
                  </a:lnTo>
                  <a:lnTo>
                    <a:pt x="3013616" y="22383"/>
                  </a:lnTo>
                  <a:lnTo>
                    <a:pt x="3029987" y="46612"/>
                  </a:lnTo>
                  <a:lnTo>
                    <a:pt x="3036000" y="76200"/>
                  </a:lnTo>
                  <a:lnTo>
                    <a:pt x="3036000" y="1912259"/>
                  </a:lnTo>
                  <a:lnTo>
                    <a:pt x="3029987" y="1941846"/>
                  </a:lnTo>
                  <a:lnTo>
                    <a:pt x="3013616" y="1966075"/>
                  </a:lnTo>
                  <a:lnTo>
                    <a:pt x="2994585" y="1978934"/>
                  </a:lnTo>
                  <a:close/>
                </a:path>
              </a:pathLst>
            </a:custGeom>
            <a:solidFill>
              <a:srgbClr val="D4AF3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3">
              <a:extLst>
                <a:ext uri="{FF2B5EF4-FFF2-40B4-BE49-F238E27FC236}">
                  <a16:creationId xmlns:a16="http://schemas.microsoft.com/office/drawing/2014/main" id="{40031601-97D3-6263-0F0F-6BED23E0AB35}"/>
                </a:ext>
              </a:extLst>
            </p:cNvPr>
            <p:cNvSpPr/>
            <p:nvPr/>
          </p:nvSpPr>
          <p:spPr>
            <a:xfrm>
              <a:off x="7125525" y="2373082"/>
              <a:ext cx="2513330" cy="9525"/>
            </a:xfrm>
            <a:custGeom>
              <a:avLst/>
              <a:gdLst/>
              <a:ahLst/>
              <a:cxnLst/>
              <a:rect l="l" t="t" r="r" b="b"/>
              <a:pathLst>
                <a:path w="2513329" h="9525">
                  <a:moveTo>
                    <a:pt x="25129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512950" y="0"/>
                  </a:lnTo>
                  <a:lnTo>
                    <a:pt x="2512950" y="9525"/>
                  </a:lnTo>
                  <a:close/>
                </a:path>
              </a:pathLst>
            </a:custGeom>
            <a:solidFill>
              <a:srgbClr val="D4AF3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2">
            <a:extLst>
              <a:ext uri="{FF2B5EF4-FFF2-40B4-BE49-F238E27FC236}">
                <a16:creationId xmlns:a16="http://schemas.microsoft.com/office/drawing/2014/main" id="{0ECDFC58-3CBA-8C2A-A8D9-F95EBD2B8149}"/>
              </a:ext>
            </a:extLst>
          </p:cNvPr>
          <p:cNvSpPr txBox="1"/>
          <p:nvPr/>
        </p:nvSpPr>
        <p:spPr>
          <a:xfrm>
            <a:off x="8108283" y="2834768"/>
            <a:ext cx="1107179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Output</a:t>
            </a:r>
            <a:r>
              <a:rPr sz="1300" b="1" spc="-4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D600"/>
                </a:solidFill>
                <a:latin typeface="Arial"/>
                <a:cs typeface="Arial"/>
              </a:rPr>
              <a:t>Index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27" name="object 28">
            <a:extLst>
              <a:ext uri="{FF2B5EF4-FFF2-40B4-BE49-F238E27FC236}">
                <a16:creationId xmlns:a16="http://schemas.microsoft.com/office/drawing/2014/main" id="{A8A09638-3231-980C-2E1C-5AF08DDF557D}"/>
              </a:ext>
            </a:extLst>
          </p:cNvPr>
          <p:cNvSpPr txBox="1"/>
          <p:nvPr/>
        </p:nvSpPr>
        <p:spPr>
          <a:xfrm>
            <a:off x="8233678" y="3306061"/>
            <a:ext cx="2263026" cy="385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Probabilistic</a:t>
            </a:r>
            <a:r>
              <a:rPr sz="10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Score:</a:t>
            </a:r>
            <a:r>
              <a:rPr sz="10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Produces</a:t>
            </a:r>
            <a:r>
              <a:rPr sz="1050" spc="-1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50" dirty="0">
                <a:solidFill>
                  <a:srgbClr val="E2DFE8"/>
                </a:solidFill>
                <a:latin typeface="Arial MT"/>
                <a:cs typeface="Arial MT"/>
              </a:rPr>
              <a:t>a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calibrated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0–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100%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OA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Risk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Index.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28" name="object 29">
            <a:extLst>
              <a:ext uri="{FF2B5EF4-FFF2-40B4-BE49-F238E27FC236}">
                <a16:creationId xmlns:a16="http://schemas.microsoft.com/office/drawing/2014/main" id="{2B3FFAF7-F6E2-0365-DBA5-7C900A1D4881}"/>
              </a:ext>
            </a:extLst>
          </p:cNvPr>
          <p:cNvSpPr txBox="1"/>
          <p:nvPr/>
        </p:nvSpPr>
        <p:spPr>
          <a:xfrm>
            <a:off x="8226474" y="3768367"/>
            <a:ext cx="2381990" cy="581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20800"/>
              </a:lnSpc>
              <a:spcBef>
                <a:spcPts val="100"/>
              </a:spcBef>
              <a:buClr>
                <a:srgbClr val="E2DFE8"/>
              </a:buClr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Early</a:t>
            </a:r>
            <a:r>
              <a:rPr sz="10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Screening:</a:t>
            </a:r>
            <a:r>
              <a:rPr sz="10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Flags</a:t>
            </a:r>
            <a:r>
              <a:rPr sz="1050" spc="-2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high-</a:t>
            </a:r>
            <a:r>
              <a:rPr sz="1050" spc="-20" dirty="0">
                <a:solidFill>
                  <a:srgbClr val="E2DFE8"/>
                </a:solidFill>
                <a:latin typeface="Arial MT"/>
                <a:cs typeface="Arial MT"/>
              </a:rPr>
              <a:t>risk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patients</a:t>
            </a:r>
            <a:r>
              <a:rPr sz="1050" spc="-60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before</a:t>
            </a:r>
            <a:r>
              <a:rPr sz="1050" spc="-5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radiological</a:t>
            </a:r>
            <a:r>
              <a:rPr sz="1050" spc="-5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changes </a:t>
            </a:r>
            <a:r>
              <a:rPr sz="1050" dirty="0">
                <a:solidFill>
                  <a:srgbClr val="E2DFE8"/>
                </a:solidFill>
                <a:latin typeface="Arial MT"/>
                <a:cs typeface="Arial MT"/>
              </a:rPr>
              <a:t>become</a:t>
            </a:r>
            <a:r>
              <a:rPr sz="1050" spc="-35" dirty="0">
                <a:solidFill>
                  <a:srgbClr val="E2DFE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2DFE8"/>
                </a:solidFill>
                <a:latin typeface="Arial MT"/>
                <a:cs typeface="Arial MT"/>
              </a:rPr>
              <a:t>severe.</a:t>
            </a:r>
            <a:endParaRPr sz="10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9679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9BBD4A-0CA1-32F3-26D6-3379A9124AC1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E85BF679-52A2-A2B8-04BF-1A2CCF3119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6A9C8AA2-5CCF-3436-C5FD-C0ADC42FFDE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225" y="1637057"/>
            <a:ext cx="3429000" cy="4937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1637057"/>
            <a:ext cx="3429000" cy="4830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637057"/>
            <a:ext cx="3429000" cy="4830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8116" y="1833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703545" y="2210590"/>
            <a:ext cx="113014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499" y="182959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515505" y="2210590"/>
            <a:ext cx="121015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4718870" y="2883913"/>
            <a:ext cx="2743576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Key technical &amp; clinical challenges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>
                <a:solidFill>
                  <a:schemeClr val="bg1"/>
                </a:solidFill>
              </a:rPr>
              <a:t>Limited and potentially imbalanced medical imaging data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Model generalization across different populations and X-ray machines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False positives / false negatives in borderline cases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Grad-CAM explains model focus but does not prove disease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Clinical validation and regulatory approval are still required</a:t>
            </a:r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9312" y="18335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369062" y="2268428"/>
            <a:ext cx="10901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Strategies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8510861" y="2817475"/>
            <a:ext cx="3109639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Approaches to improve reliability and adoption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>
                <a:solidFill>
                  <a:schemeClr val="bg1"/>
                </a:solidFill>
              </a:rPr>
              <a:t>Train and validate using diverse, high-quality datasets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Evaluate using accuracy, sensitivity, specificity, F1 and ROC-AUC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Use </a:t>
            </a:r>
            <a:r>
              <a:rPr lang="en-IN" b="1" dirty="0">
                <a:solidFill>
                  <a:schemeClr val="bg1"/>
                </a:solidFill>
              </a:rPr>
              <a:t>Grad-CAM</a:t>
            </a:r>
            <a:r>
              <a:rPr lang="en-IN" dirty="0">
                <a:solidFill>
                  <a:schemeClr val="bg1"/>
                </a:solidFill>
              </a:rPr>
              <a:t> for explainability and error analysis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Combine X-ray findings with patient-level clinical factors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Position the system as </a:t>
            </a:r>
            <a:r>
              <a:rPr lang="en-IN" b="1" dirty="0">
                <a:solidFill>
                  <a:schemeClr val="bg1"/>
                </a:solidFill>
              </a:rPr>
              <a:t>decision support/screening</a:t>
            </a:r>
            <a:r>
              <a:rPr lang="en-IN" dirty="0">
                <a:solidFill>
                  <a:schemeClr val="bg1"/>
                </a:solidFill>
              </a:rPr>
              <a:t>, not a replacement for clinicians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Perform external and prospective validation before real-world deployment</a:t>
            </a:r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 AND VIABILITY</a:t>
            </a:r>
            <a:endParaRPr dirty="0"/>
          </a:p>
        </p:txBody>
      </p:sp>
      <p:sp>
        <p:nvSpPr>
          <p:cNvPr id="144" name="Google Shape;144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687175" y="6467475"/>
            <a:ext cx="219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9AD2-9821-3F8D-A3D6-35A48800D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D5ECF2-C2E8-C981-2BBF-20D6878A26BF}"/>
              </a:ext>
            </a:extLst>
          </p:cNvPr>
          <p:cNvSpPr txBox="1"/>
          <p:nvPr/>
        </p:nvSpPr>
        <p:spPr>
          <a:xfrm>
            <a:off x="1077686" y="2788095"/>
            <a:ext cx="252966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AI-based multimodal OA screening is technically feasible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>
                <a:solidFill>
                  <a:schemeClr val="bg1"/>
                </a:solidFill>
              </a:rPr>
              <a:t>ResNet18-based deep learning for knee X-ray analysis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Real NHANES 2017–2018 clinical data for risk/status estimation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Grad-CAM provides visual model explanations </a:t>
            </a:r>
          </a:p>
          <a:p>
            <a:pPr lvl="0"/>
            <a:r>
              <a:rPr lang="en-IN" dirty="0" err="1">
                <a:solidFill>
                  <a:schemeClr val="bg1"/>
                </a:solidFill>
              </a:rPr>
              <a:t>FastAPI</a:t>
            </a:r>
            <a:r>
              <a:rPr lang="en-IN" dirty="0">
                <a:solidFill>
                  <a:schemeClr val="bg1"/>
                </a:solidFill>
              </a:rPr>
              <a:t> + </a:t>
            </a:r>
            <a:r>
              <a:rPr lang="en-IN" dirty="0" err="1">
                <a:solidFill>
                  <a:schemeClr val="bg1"/>
                </a:solidFill>
              </a:rPr>
              <a:t>Streamlit</a:t>
            </a:r>
            <a:r>
              <a:rPr lang="en-IN" dirty="0">
                <a:solidFill>
                  <a:schemeClr val="bg1"/>
                </a:solidFill>
              </a:rPr>
              <a:t> enables a practical web-based prototype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82BC47-C1E8-211A-F7F3-99B987C7EA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C50263B4-4851-C499-7453-724CE8EF500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ED84BD7-0591-5A0E-6A51-006CBA369A9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7"/>
          <p:cNvSpPr txBox="1"/>
          <p:nvPr/>
        </p:nvSpPr>
        <p:spPr>
          <a:xfrm>
            <a:off x="1000125" y="1683172"/>
            <a:ext cx="4619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Potential Impact on the target audience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1000125" y="3415613"/>
            <a:ext cx="886523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Benefits of the solution (Social, Economic, Environmental, etc.)</a:t>
            </a:r>
            <a:endParaRPr dirty="0"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117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514" y="3482224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80147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143;p16">
            <a:extLst>
              <a:ext uri="{FF2B5EF4-FFF2-40B4-BE49-F238E27FC236}">
                <a16:creationId xmlns:a16="http://schemas.microsoft.com/office/drawing/2014/main" id="{3CAF39FC-C49D-1484-968C-D8CC6B6281EE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 AND BENEFITS</a:t>
            </a:r>
            <a:endParaRPr dirty="0"/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FDB0C6B6-D604-F5FA-8C1F-20E675C8EE7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EAE13-7287-2B9A-1824-778F4241D5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CFE96E-9054-5656-0D69-A11FB919B36D}"/>
              </a:ext>
            </a:extLst>
          </p:cNvPr>
          <p:cNvSpPr txBox="1"/>
          <p:nvPr/>
        </p:nvSpPr>
        <p:spPr>
          <a:xfrm>
            <a:off x="685800" y="2085986"/>
            <a:ext cx="111156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Supports earlier awareness and screening of possible osteoarthritis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Provides an additional AI-based perspective from X-rays and patient risk factors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Helps users understand </a:t>
            </a:r>
            <a:r>
              <a:rPr lang="en-IN" i="1" dirty="0">
                <a:solidFill>
                  <a:schemeClr val="bg1"/>
                </a:solidFill>
              </a:rPr>
              <a:t>where the model is focusing</a:t>
            </a:r>
            <a:r>
              <a:rPr lang="en-IN" dirty="0">
                <a:solidFill>
                  <a:schemeClr val="bg1"/>
                </a:solidFill>
              </a:rPr>
              <a:t> through Grad-CAM heatmaps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Can support clinicians in prioritizing cases for further evaluation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Promotes awareness of factors associated with OA and the importance of timely professional assessment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08156-0E53-CA8F-582C-483423AB72F9}"/>
              </a:ext>
            </a:extLst>
          </p:cNvPr>
          <p:cNvSpPr txBox="1"/>
          <p:nvPr/>
        </p:nvSpPr>
        <p:spPr>
          <a:xfrm>
            <a:off x="747076" y="3782947"/>
            <a:ext cx="1033190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Social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Improves accessibility to preliminary AI-assisted screening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Encourages earlier awareness and appropriate medical consultation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Supports mobility and quality-of-life awareness </a:t>
            </a:r>
          </a:p>
          <a:p>
            <a:r>
              <a:rPr lang="en-IN" b="1" dirty="0">
                <a:solidFill>
                  <a:schemeClr val="bg1"/>
                </a:solidFill>
              </a:rPr>
              <a:t>Economic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Potentially reduces unnecessary delays in assessment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Can assist healthcare workflows by prioritizing higher-risk cases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Scalable as a software-based screening/decision-support tool </a:t>
            </a:r>
          </a:p>
          <a:p>
            <a:r>
              <a:rPr lang="en-IN" b="1" dirty="0">
                <a:solidFill>
                  <a:schemeClr val="bg1"/>
                </a:solidFill>
              </a:rPr>
              <a:t>Technological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Combines Deep Learning + Machine Learning + Explainable AI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Uses X-ray analysis + clinical risk factors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Provides visual explanations through Grad-CAM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Accessible through a </a:t>
            </a:r>
            <a:r>
              <a:rPr lang="en-IN" dirty="0" err="1">
                <a:solidFill>
                  <a:schemeClr val="bg1"/>
                </a:solidFill>
              </a:rPr>
              <a:t>Streamlit</a:t>
            </a:r>
            <a:r>
              <a:rPr lang="en-IN" dirty="0">
                <a:solidFill>
                  <a:schemeClr val="bg1"/>
                </a:solidFill>
              </a:rPr>
              <a:t> web application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816A02-64BD-FBFB-2E8F-FE68591AE8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0FC4E61E-2819-88A1-4D2E-25F6C534E60D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62BE52A-6744-24D5-7827-BF7ABFAE66D8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4735" y="1661038"/>
            <a:ext cx="10491634" cy="480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682747"/>
            <a:ext cx="929116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600" b="1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r>
              <a:rPr lang="en-US" dirty="0">
                <a:sym typeface="Playfair Display"/>
              </a:rPr>
              <a:t>RESEARCH AND REFERENCES</a:t>
            </a:r>
            <a:endParaRPr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11696700" y="6467475"/>
            <a:ext cx="209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4B2B-35C3-CD70-ED94-211E6AF95D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919" y="141850"/>
            <a:ext cx="2259114" cy="1169718"/>
          </a:xfrm>
          <a:prstGeom prst="rect">
            <a:avLst/>
          </a:prstGeom>
        </p:spPr>
      </p:pic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D7515F0B-1E18-86AF-90B0-D093B0E72B20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95E0E-6F1F-C423-DAA9-15454E370CCB}"/>
              </a:ext>
            </a:extLst>
          </p:cNvPr>
          <p:cNvSpPr txBox="1"/>
          <p:nvPr/>
        </p:nvSpPr>
        <p:spPr>
          <a:xfrm>
            <a:off x="2013857" y="2296886"/>
            <a:ext cx="89262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1.    WHO — Osteoarthritis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2.    NHANES 2017–2018</a:t>
            </a:r>
          </a:p>
          <a:p>
            <a:r>
              <a:rPr lang="en-IN" sz="1800" dirty="0">
                <a:solidFill>
                  <a:srgbClr val="0000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https://wwwn.cdc.gov/nchs/nhanes/search/DataPage.aspx?Cycle=</a:t>
            </a:r>
            <a:r>
              <a:rPr lang="en-IN" sz="1800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2017-2018</a:t>
            </a:r>
            <a:endParaRPr lang="en-IN" sz="1800" dirty="0">
              <a:solidFill>
                <a:schemeClr val="bg1"/>
              </a:solidFill>
            </a:endParaRPr>
          </a:p>
          <a:p>
            <a:endParaRPr lang="en-IN" sz="18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3.    Grad-CAM — Explainable AI</a:t>
            </a:r>
          </a:p>
          <a:p>
            <a:endParaRPr lang="en-IN" sz="18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4.     </a:t>
            </a:r>
            <a:r>
              <a:rPr lang="en-IN" sz="1800" dirty="0" err="1">
                <a:solidFill>
                  <a:schemeClr val="bg1"/>
                </a:solidFill>
              </a:rPr>
              <a:t>ResNet</a:t>
            </a:r>
            <a:r>
              <a:rPr lang="en-IN" sz="1800" dirty="0">
                <a:solidFill>
                  <a:schemeClr val="bg1"/>
                </a:solidFill>
              </a:rPr>
              <a:t> 50</a:t>
            </a:r>
          </a:p>
          <a:p>
            <a:endParaRPr lang="en-IN" sz="1800" dirty="0">
              <a:solidFill>
                <a:schemeClr val="bg1"/>
              </a:solidFill>
              <a:latin typeface="Calib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736</Words>
  <Application>Microsoft Office PowerPoint</Application>
  <PresentationFormat>Widescreen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 MT</vt:lpstr>
      <vt:lpstr>Times New Roman</vt:lpstr>
      <vt:lpstr>Arial</vt:lpstr>
      <vt:lpstr>Poppins Light</vt:lpstr>
      <vt:lpstr>Poppins</vt:lpstr>
      <vt:lpstr>Calibri</vt:lpstr>
      <vt:lpstr>Calibi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Devansh Sarin</cp:lastModifiedBy>
  <cp:revision>11</cp:revision>
  <dcterms:modified xsi:type="dcterms:W3CDTF">2026-09-08T19:57:36Z</dcterms:modified>
</cp:coreProperties>
</file>